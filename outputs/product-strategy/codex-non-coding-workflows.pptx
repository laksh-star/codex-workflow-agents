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31f917a75c42bc" /><Relationship Type="http://schemas.openxmlformats.org/officeDocument/2006/relationships/extended-properties" Target="/docProps/app.xml" Id="Rb3784dc6523f4ea1" /><Relationship Type="http://schemas.openxmlformats.org/officeDocument/2006/relationships/officeDocument" Target="/ppt/presentation.xml" Id="Rc16dbbdec90f4eb2" /></Relationships>
</file>

<file path=ppt/presentation.xml><?xml version="1.0" encoding="utf-8"?>
<p:presentation xmlns:p="http://schemas.openxmlformats.org/presentationml/2006/main">
  <p:sldMasterIdLst>
    <p:sldMasterId xmlns:r="http://schemas.openxmlformats.org/officeDocument/2006/relationships" id="2147483648" r:id="R53f5e43b117d4d3d"/>
  </p:sldMasterIdLst>
  <p:notesMasterIdLst>
    <p:notesMasterId xmlns:r="http://schemas.openxmlformats.org/officeDocument/2006/relationships" r:id="Rc88dfcf482f546e6"/>
  </p:notesMasterIdLst>
  <p:sldIdLst>
    <p:sldId xmlns:r="http://schemas.openxmlformats.org/officeDocument/2006/relationships" id="256" r:id="Ra74f4e28cade4e56"/>
    <p:sldId xmlns:r="http://schemas.openxmlformats.org/officeDocument/2006/relationships" id="257" r:id="R181d024a6d684f13"/>
    <p:sldId xmlns:r="http://schemas.openxmlformats.org/officeDocument/2006/relationships" id="258" r:id="R74c11c395c4640f6"/>
    <p:sldId xmlns:r="http://schemas.openxmlformats.org/officeDocument/2006/relationships" id="259" r:id="R5c3d65a496c44711"/>
    <p:sldId xmlns:r="http://schemas.openxmlformats.org/officeDocument/2006/relationships" id="260" r:id="Rb56bc52c2fd342cd"/>
    <p:sldId xmlns:r="http://schemas.openxmlformats.org/officeDocument/2006/relationships" id="261" r:id="Rc895b6de90e64335"/>
    <p:sldId xmlns:r="http://schemas.openxmlformats.org/officeDocument/2006/relationships" id="262" r:id="Rc475da927deb485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3f5e43b117d4d3d" /><Relationship Type="http://schemas.openxmlformats.org/officeDocument/2006/relationships/theme" Target="/ppt/theme/theme1.xml" Id="Rb53274341c834793" /><Relationship Type="http://schemas.openxmlformats.org/officeDocument/2006/relationships/notesMaster" Target="/ppt/notesMasters/notesMaster1.xml" Id="Rc88dfcf482f546e6" /><Relationship Type="http://schemas.openxmlformats.org/officeDocument/2006/relationships/presProps" Target="/ppt/presProps.xml" Id="R5689dbdd82e6464e" /><Relationship Type="http://schemas.openxmlformats.org/officeDocument/2006/relationships/viewProps" Target="/ppt/viewProps.xml" Id="R63fdd50b6320422c" /><Relationship Type="http://schemas.openxmlformats.org/officeDocument/2006/relationships/tableStyles" Target="/ppt/tableStyles.xml" Id="Ra84aa88021e9451d" /><Relationship Type="http://schemas.openxmlformats.org/officeDocument/2006/relationships/slide" Target="/ppt/slides/slide1.xml" Id="Ra74f4e28cade4e56" /><Relationship Type="http://schemas.openxmlformats.org/officeDocument/2006/relationships/slide" Target="/ppt/slides/slide2.xml" Id="R181d024a6d684f13" /><Relationship Type="http://schemas.openxmlformats.org/officeDocument/2006/relationships/slide" Target="/ppt/slides/slide3.xml" Id="R74c11c395c4640f6" /><Relationship Type="http://schemas.openxmlformats.org/officeDocument/2006/relationships/slide" Target="/ppt/slides/slide4.xml" Id="R5c3d65a496c44711" /><Relationship Type="http://schemas.openxmlformats.org/officeDocument/2006/relationships/slide" Target="/ppt/slides/slide5.xml" Id="Rb56bc52c2fd342cd" /><Relationship Type="http://schemas.openxmlformats.org/officeDocument/2006/relationships/slide" Target="/ppt/slides/slide6.xml" Id="Rc895b6de90e64335" /><Relationship Type="http://schemas.openxmlformats.org/officeDocument/2006/relationships/slide" Target="/ppt/slides/slide7.xml" Id="Rc475da927deb48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0973f2d07df41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odex Strategy">
  <a:themeElements>
    <a:clrScheme name="Codex Strategy">
      <a:accent1>
        <a:srgbClr val="2563EB"/>
      </a:accent1>
      <a:accent2>
        <a:srgbClr val="0F766E"/>
      </a:accent2>
      <a:accent3>
        <a:srgbClr val="D97706"/>
      </a:accent3>
    </a:clrScheme>
    <a:fontScheme name="Office">
      <a:majorFont>
        <a:latin typeface="Calibri Light"/>
        <a:ea typeface="Calibri Light"/>
        <a:cs typeface="Calibri Light"/>
      </a:majorFont>
      <a:minorFont>
        <a:latin typeface="Calibri"/>
        <a:ea typeface="Calibri"/>
        <a:cs typeface="Calibri"/>
      </a:minorFont>
    </a:fontScheme>
    <a:fmtScheme name="Codex Strategy">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e725d03be24216" /><Relationship Type="http://schemas.openxmlformats.org/officeDocument/2006/relationships/notesMaster" Target="/ppt/notesMasters/notesMaster1.xml" Id="R78909a3bcc374c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6c4ac69867457c" /><Relationship Type="http://schemas.openxmlformats.org/officeDocument/2006/relationships/notesMaster" Target="/ppt/notesMasters/notesMaster1.xml" Id="Rc8440acad9d847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8e6d862c8844b7" /><Relationship Type="http://schemas.openxmlformats.org/officeDocument/2006/relationships/notesMaster" Target="/ppt/notesMasters/notesMaster1.xml" Id="Reac1625e0f784d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f780378d6448f7" /><Relationship Type="http://schemas.openxmlformats.org/officeDocument/2006/relationships/notesMaster" Target="/ppt/notesMasters/notesMaster1.xml" Id="Rc1b1d665dec347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c7108b705f464a" /><Relationship Type="http://schemas.openxmlformats.org/officeDocument/2006/relationships/notesMaster" Target="/ppt/notesMasters/notesMaster1.xml" Id="R81c925c6e58b46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5a93f0a5cd4fcf" /><Relationship Type="http://schemas.openxmlformats.org/officeDocument/2006/relationships/notesMaster" Target="/ppt/notesMasters/notesMaster1.xml" Id="R1de9d905268540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8c60b06a354896" /><Relationship Type="http://schemas.openxmlformats.org/officeDocument/2006/relationships/notesMaster" Target="/ppt/notesMasters/notesMaster1.xml" Id="R3c0648e5618141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23c5b0cf234d0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2C3F01C2-448B-4DCA-9054-CF9D0A6EC202}"/>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9417AF94-DACE-4358-BE61-BEE375B2BBCC}"/>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D0D5C86A-9FC1-47D3-8057-7D67102E68C9}"/>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C5EFF5D1-CE75-45D8-866F-7E9E12FD624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108E5250-4EA7-4723-AA17-2A5EE5700AB0}"/>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a2beca0146394d24" /><Relationship Type="http://schemas.openxmlformats.org/officeDocument/2006/relationships/slideLayout" Target="/ppt/slideLayouts/slideLayout2.xml" Id="Rfefc4f66b23246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9B3D91B-4FF0-44AE-91E8-1F5FA546D665}"/>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fc4f66b23246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16db1efffd6144a6" /><Relationship Type="http://schemas.openxmlformats.org/officeDocument/2006/relationships/notesSlide" Target="/ppt/notesSlides/notesSlide1.xml" Id="R7969dc94929942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c1e6a231d724060" /><Relationship Type="http://schemas.openxmlformats.org/officeDocument/2006/relationships/notesSlide" Target="/ppt/notesSlides/notesSlide2.xml" Id="Reca9ac9fadb040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eaeac842d224dd2" /><Relationship Type="http://schemas.openxmlformats.org/officeDocument/2006/relationships/notesSlide" Target="/ppt/notesSlides/notesSlide3.xml" Id="Rfd3804bd456a47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55e4505d2334d59" /><Relationship Type="http://schemas.openxmlformats.org/officeDocument/2006/relationships/notesSlide" Target="/ppt/notesSlides/notesSlide4.xml" Id="R2874751c15a94a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48efa3ce90a4ec3" /><Relationship Type="http://schemas.openxmlformats.org/officeDocument/2006/relationships/notesSlide" Target="/ppt/notesSlides/notesSlide5.xml" Id="Re10cb55dee6943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ce1d58615054cd9" /><Relationship Type="http://schemas.openxmlformats.org/officeDocument/2006/relationships/notesSlide" Target="/ppt/notesSlides/notesSlide6.xml" Id="Rc37329d3a5da44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af84cd438154ad4" /><Relationship Type="http://schemas.openxmlformats.org/officeDocument/2006/relationships/notesSlide" Target="/ppt/notesSlides/notesSlide7.xml" Id="Rec227a624bff4cb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8E5250-4EA7-4723-AA17-2A5EE5700AB0}"/>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88297F1-94A5-46CD-9190-E3F6AC1312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 name="">
            <a:extLst xmlns:a="http://schemas.openxmlformats.org/drawingml/2006/main">
              <a:ext uri="{FF2B5EF4-FFF2-40B4-BE49-F238E27FC236}">
                <a16:creationId xmlns:a16="http://schemas.microsoft.com/office/drawing/2014/main" id="{7E7AF6BF-808C-4DB5-9117-A1629C69FC0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137A6FB7-1975-413E-8E2F-7C5D99BA5141}"/>
              </a:ext>
            </a:extLst>
          </p:cNvPr>
          <p:cNvSpPr>
            <a:spLocks xmlns:a="http://schemas.openxmlformats.org/drawingml/2006/main" noGrp="1"/>
          </p:cNvSpPr>
          <p:nvPr/>
        </p:nvSpPr>
        <p:spPr>
          <a:xfrm xmlns:a="http://schemas.openxmlformats.org/drawingml/2006/main">
            <a:off x="8858250" y="400050"/>
            <a:ext cx="2667000" cy="666750"/>
          </a:xfrm>
          <a:prstGeom xmlns:a="http://schemas.openxmlformats.org/drawingml/2006/main" prst="roundRect">
            <a:avLst>
              <a:gd name="adj" fmla="val 11429"/>
            </a:avLst>
          </a:prstGeom>
          <a:solidFill xmlns:a="http://schemas.openxmlformats.org/drawingml/2006/main">
            <a:srgbClr val="2563EB">
              <a:alpha val="8235"/>
            </a:srgbClr>
          </a:solidFill>
          <a:ln xmlns:a="http://schemas.openxmlformats.org/drawingml/2006/main" w="9525">
            <a:solidFill>
              <a:srgbClr val="2563EB">
                <a:alpha val="25098"/>
              </a:srgbClr>
            </a:solidFill>
            <a:prstDash val="solid"/>
          </a:ln>
        </p:spPr>
      </p:sp>
      <p:sp>
        <p:nvSpPr>
          <p:cNvPr id="5" name="">
            <a:extLst xmlns:a="http://schemas.openxmlformats.org/drawingml/2006/main">
              <a:ext uri="{FF2B5EF4-FFF2-40B4-BE49-F238E27FC236}">
                <a16:creationId xmlns:a16="http://schemas.microsoft.com/office/drawing/2014/main" id="{58C008C4-3546-484A-B12F-323EC5051837}"/>
              </a:ext>
            </a:extLst>
          </p:cNvPr>
          <p:cNvSpPr>
            <a:spLocks xmlns:a="http://schemas.openxmlformats.org/drawingml/2006/main" noGrp="1"/>
          </p:cNvSpPr>
          <p:nvPr/>
        </p:nvSpPr>
        <p:spPr>
          <a:xfrm xmlns:a="http://schemas.openxmlformats.org/drawingml/2006/main">
            <a:off x="742950" y="857250"/>
            <a:ext cx="7239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defRPr>
            </a:pPr>
            <a:r>
              <a:rPr sz="2550" b="1">
                <a:solidFill>
                  <a:srgbClr val="0F172A"/>
                </a:solidFill>
              </a:rPr>
              <a:t>Codex-First Non-Coding Workflows</a:t>
            </a:r>
          </a:p>
        </p:txBody>
      </p:sp>
      <p:sp>
        <p:nvSpPr>
          <p:cNvPr id="6" name="">
            <a:extLst xmlns:a="http://schemas.openxmlformats.org/drawingml/2006/main">
              <a:ext uri="{FF2B5EF4-FFF2-40B4-BE49-F238E27FC236}">
                <a16:creationId xmlns:a16="http://schemas.microsoft.com/office/drawing/2014/main" id="{3E05AFBC-656F-433E-AA08-C2370589027D}"/>
              </a:ext>
            </a:extLst>
          </p:cNvPr>
          <p:cNvSpPr>
            <a:spLocks xmlns:a="http://schemas.openxmlformats.org/drawingml/2006/main" noGrp="1"/>
          </p:cNvSpPr>
          <p:nvPr/>
        </p:nvSpPr>
        <p:spPr>
          <a:xfrm xmlns:a="http://schemas.openxmlformats.org/drawingml/2006/main">
            <a:off x="742950" y="1428750"/>
            <a:ext cx="68580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defRPr>
            </a:pPr>
            <a:r>
              <a:rPr sz="1650" b="0">
                <a:solidFill>
                  <a:srgbClr val="334155"/>
                </a:solidFill>
              </a:rPr>
              <a:t>Position Codex as an operator for recurring business workflows that collect context, operate tools, follow up later, and deliver editable business artifacts.</a:t>
            </a:r>
          </a:p>
        </p:txBody>
      </p:sp>
      <p:sp>
        <p:nvSpPr>
          <p:cNvPr id="7" name="">
            <a:extLst xmlns:a="http://schemas.openxmlformats.org/drawingml/2006/main">
              <a:ext uri="{FF2B5EF4-FFF2-40B4-BE49-F238E27FC236}">
                <a16:creationId xmlns:a16="http://schemas.microsoft.com/office/drawing/2014/main" id="{331086BA-B818-4C32-B64A-F935239300AA}"/>
              </a:ext>
            </a:extLst>
          </p:cNvPr>
          <p:cNvSpPr>
            <a:spLocks xmlns:a="http://schemas.openxmlformats.org/drawingml/2006/main" noGrp="1"/>
          </p:cNvSpPr>
          <p:nvPr/>
        </p:nvSpPr>
        <p:spPr>
          <a:xfrm xmlns:a="http://schemas.openxmlformats.org/drawingml/2006/main">
            <a:off x="742950" y="3143250"/>
            <a:ext cx="34290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6618D34-6CD4-425C-81DD-59C4A3157149}"/>
              </a:ext>
            </a:extLst>
          </p:cNvPr>
          <p:cNvSpPr>
            <a:spLocks xmlns:a="http://schemas.openxmlformats.org/drawingml/2006/main" noGrp="1"/>
          </p:cNvSpPr>
          <p:nvPr/>
        </p:nvSpPr>
        <p:spPr>
          <a:xfrm xmlns:a="http://schemas.openxmlformats.org/drawingml/2006/main">
            <a:off x="914400" y="3314700"/>
            <a:ext cx="685800" cy="9525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solidFill>
              <a:srgbClr val="0F766E"/>
            </a:solidFill>
            <a:prstDash val="solid"/>
          </a:ln>
        </p:spPr>
      </p:sp>
      <p:sp>
        <p:nvSpPr>
          <p:cNvPr id="9" name="">
            <a:extLst xmlns:a="http://schemas.openxmlformats.org/drawingml/2006/main">
              <a:ext uri="{FF2B5EF4-FFF2-40B4-BE49-F238E27FC236}">
                <a16:creationId xmlns:a16="http://schemas.microsoft.com/office/drawing/2014/main" id="{CCA32222-5D87-419B-89CE-D0C180A2E309}"/>
              </a:ext>
            </a:extLst>
          </p:cNvPr>
          <p:cNvSpPr>
            <a:spLocks xmlns:a="http://schemas.openxmlformats.org/drawingml/2006/main" noGrp="1"/>
          </p:cNvSpPr>
          <p:nvPr/>
        </p:nvSpPr>
        <p:spPr>
          <a:xfrm xmlns:a="http://schemas.openxmlformats.org/drawingml/2006/main">
            <a:off x="914400" y="3524250"/>
            <a:ext cx="3086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Core wedge</a:t>
            </a:r>
          </a:p>
        </p:txBody>
      </p:sp>
      <p:sp>
        <p:nvSpPr>
          <p:cNvPr id="10" name="">
            <a:extLst xmlns:a="http://schemas.openxmlformats.org/drawingml/2006/main">
              <a:ext uri="{FF2B5EF4-FFF2-40B4-BE49-F238E27FC236}">
                <a16:creationId xmlns:a16="http://schemas.microsoft.com/office/drawing/2014/main" id="{3DE054FA-368D-4C17-B568-8C77F18E3188}"/>
              </a:ext>
            </a:extLst>
          </p:cNvPr>
          <p:cNvSpPr>
            <a:spLocks xmlns:a="http://schemas.openxmlformats.org/drawingml/2006/main" noGrp="1"/>
          </p:cNvSpPr>
          <p:nvPr/>
        </p:nvSpPr>
        <p:spPr>
          <a:xfrm xmlns:a="http://schemas.openxmlformats.org/drawingml/2006/main">
            <a:off x="914400" y="4019550"/>
            <a:ext cx="30861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Connected work context plus automation plus computer-use plus editable Excel and PowerPoint deliverables.</a:t>
            </a:r>
          </a:p>
        </p:txBody>
      </p:sp>
      <p:sp>
        <p:nvSpPr>
          <p:cNvPr id="11" name="">
            <a:extLst xmlns:a="http://schemas.openxmlformats.org/drawingml/2006/main">
              <a:ext uri="{FF2B5EF4-FFF2-40B4-BE49-F238E27FC236}">
                <a16:creationId xmlns:a16="http://schemas.microsoft.com/office/drawing/2014/main" id="{3746B4D7-692F-4F6B-9001-1DA81ADC215E}"/>
              </a:ext>
            </a:extLst>
          </p:cNvPr>
          <p:cNvSpPr>
            <a:spLocks xmlns:a="http://schemas.openxmlformats.org/drawingml/2006/main" noGrp="1"/>
          </p:cNvSpPr>
          <p:nvPr/>
        </p:nvSpPr>
        <p:spPr>
          <a:xfrm xmlns:a="http://schemas.openxmlformats.org/drawingml/2006/main">
            <a:off x="4476750" y="3143250"/>
            <a:ext cx="314325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F92719E0-A86F-41F4-9F28-47916B4D02EA}"/>
              </a:ext>
            </a:extLst>
          </p:cNvPr>
          <p:cNvSpPr>
            <a:spLocks xmlns:a="http://schemas.openxmlformats.org/drawingml/2006/main" noGrp="1"/>
          </p:cNvSpPr>
          <p:nvPr/>
        </p:nvSpPr>
        <p:spPr>
          <a:xfrm xmlns:a="http://schemas.openxmlformats.org/drawingml/2006/main">
            <a:off x="4648200" y="3314700"/>
            <a:ext cx="685800" cy="952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3" name="">
            <a:extLst xmlns:a="http://schemas.openxmlformats.org/drawingml/2006/main">
              <a:ext uri="{FF2B5EF4-FFF2-40B4-BE49-F238E27FC236}">
                <a16:creationId xmlns:a16="http://schemas.microsoft.com/office/drawing/2014/main" id="{CB9FC020-8CF0-4592-85FF-3CEE142C8B64}"/>
              </a:ext>
            </a:extLst>
          </p:cNvPr>
          <p:cNvSpPr>
            <a:spLocks xmlns:a="http://schemas.openxmlformats.org/drawingml/2006/main" noGrp="1"/>
          </p:cNvSpPr>
          <p:nvPr/>
        </p:nvSpPr>
        <p:spPr>
          <a:xfrm xmlns:a="http://schemas.openxmlformats.org/drawingml/2006/main">
            <a:off x="4648200" y="3524250"/>
            <a:ext cx="2800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Why now</a:t>
            </a:r>
          </a:p>
        </p:txBody>
      </p:sp>
      <p:sp>
        <p:nvSpPr>
          <p:cNvPr id="14" name="">
            <a:extLst xmlns:a="http://schemas.openxmlformats.org/drawingml/2006/main">
              <a:ext uri="{FF2B5EF4-FFF2-40B4-BE49-F238E27FC236}">
                <a16:creationId xmlns:a16="http://schemas.microsoft.com/office/drawing/2014/main" id="{B09BF53F-93E9-403B-843C-0C51DA3CA2D3}"/>
              </a:ext>
            </a:extLst>
          </p:cNvPr>
          <p:cNvSpPr>
            <a:spLocks xmlns:a="http://schemas.openxmlformats.org/drawingml/2006/main" noGrp="1"/>
          </p:cNvSpPr>
          <p:nvPr/>
        </p:nvSpPr>
        <p:spPr>
          <a:xfrm xmlns:a="http://schemas.openxmlformats.org/drawingml/2006/main">
            <a:off x="4648200" y="4019550"/>
            <a:ext cx="280035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This capability bundle moves Codex beyond chat summaries into repeatable business operations.</a:t>
            </a:r>
          </a:p>
        </p:txBody>
      </p:sp>
      <p:sp>
        <p:nvSpPr>
          <p:cNvPr id="15" name="">
            <a:extLst xmlns:a="http://schemas.openxmlformats.org/drawingml/2006/main">
              <a:ext uri="{FF2B5EF4-FFF2-40B4-BE49-F238E27FC236}">
                <a16:creationId xmlns:a16="http://schemas.microsoft.com/office/drawing/2014/main" id="{1F1B911A-0934-4028-ADE9-CF43D7CC844E}"/>
              </a:ext>
            </a:extLst>
          </p:cNvPr>
          <p:cNvSpPr>
            <a:spLocks xmlns:a="http://schemas.openxmlformats.org/drawingml/2006/main" noGrp="1"/>
          </p:cNvSpPr>
          <p:nvPr/>
        </p:nvSpPr>
        <p:spPr>
          <a:xfrm xmlns:a="http://schemas.openxmlformats.org/drawingml/2006/main">
            <a:off x="7905750" y="1428750"/>
            <a:ext cx="3429000" cy="409575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1726DB12-FD49-42A4-8FCA-8ACFBFAEDE71}"/>
              </a:ext>
            </a:extLst>
          </p:cNvPr>
          <p:cNvSpPr>
            <a:spLocks xmlns:a="http://schemas.openxmlformats.org/drawingml/2006/main" noGrp="1"/>
          </p:cNvSpPr>
          <p:nvPr/>
        </p:nvSpPr>
        <p:spPr>
          <a:xfrm xmlns:a="http://schemas.openxmlformats.org/drawingml/2006/main">
            <a:off x="8077200" y="1600200"/>
            <a:ext cx="685800" cy="95250"/>
          </a:xfrm>
          <a:prstGeom xmlns:a="http://schemas.openxmlformats.org/drawingml/2006/main" prst="roundRect">
            <a:avLst>
              <a:gd name="adj" fmla="val 50000"/>
            </a:avLst>
          </a:prstGeom>
          <a:solidFill xmlns:a="http://schemas.openxmlformats.org/drawingml/2006/main">
            <a:srgbClr val="BE123C"/>
          </a:solidFill>
          <a:ln xmlns:a="http://schemas.openxmlformats.org/drawingml/2006/main" w="0">
            <a:solidFill>
              <a:srgbClr val="BE123C"/>
            </a:solidFill>
            <a:prstDash val="solid"/>
          </a:ln>
        </p:spPr>
      </p:sp>
      <p:sp>
        <p:nvSpPr>
          <p:cNvPr id="17" name="">
            <a:extLst xmlns:a="http://schemas.openxmlformats.org/drawingml/2006/main">
              <a:ext uri="{FF2B5EF4-FFF2-40B4-BE49-F238E27FC236}">
                <a16:creationId xmlns:a16="http://schemas.microsoft.com/office/drawing/2014/main" id="{0F0F7A25-1481-49CC-AACB-AC1C2D5EDC61}"/>
              </a:ext>
            </a:extLst>
          </p:cNvPr>
          <p:cNvSpPr>
            <a:spLocks xmlns:a="http://schemas.openxmlformats.org/drawingml/2006/main" noGrp="1"/>
          </p:cNvSpPr>
          <p:nvPr/>
        </p:nvSpPr>
        <p:spPr>
          <a:xfrm xmlns:a="http://schemas.openxmlformats.org/drawingml/2006/main">
            <a:off x="8077200" y="1809750"/>
            <a:ext cx="3086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Top 5</a:t>
            </a:r>
          </a:p>
        </p:txBody>
      </p:sp>
      <p:sp>
        <p:nvSpPr>
          <p:cNvPr id="18" name="">
            <a:extLst xmlns:a="http://schemas.openxmlformats.org/drawingml/2006/main">
              <a:ext uri="{FF2B5EF4-FFF2-40B4-BE49-F238E27FC236}">
                <a16:creationId xmlns:a16="http://schemas.microsoft.com/office/drawing/2014/main" id="{45E503AE-15F7-407D-9236-1DC6846F5B7E}"/>
              </a:ext>
            </a:extLst>
          </p:cNvPr>
          <p:cNvSpPr>
            <a:spLocks xmlns:a="http://schemas.openxmlformats.org/drawingml/2006/main" noGrp="1"/>
          </p:cNvSpPr>
          <p:nvPr/>
        </p:nvSpPr>
        <p:spPr>
          <a:xfrm xmlns:a="http://schemas.openxmlformats.org/drawingml/2006/main">
            <a:off x="8077200" y="2305050"/>
            <a:ext cx="3086100" cy="3048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1. Personal Chief of Staff</a:t>
            </a:r>
          </a:p>
          <a:p xmlns:a="http://schemas.openxmlformats.org/drawingml/2006/main">
            <a:pPr algn="l">
              <a:defRPr sz="1200" b="0">
                <a:solidFill>
                  <a:srgbClr val="334155"/>
                </a:solidFill>
              </a:defRPr>
            </a:pPr>
            <a:r>
              <a:rPr sz="1200" b="0">
                <a:solidFill>
                  <a:srgbClr val="334155"/>
                </a:solidFill>
              </a:rPr>
              <a:t>2. Executive Briefing Machine</a:t>
            </a:r>
          </a:p>
          <a:p xmlns:a="http://schemas.openxmlformats.org/drawingml/2006/main">
            <a:pPr algn="l">
              <a:defRPr sz="1200" b="0">
                <a:solidFill>
                  <a:srgbClr val="334155"/>
                </a:solidFill>
              </a:defRPr>
            </a:pPr>
            <a:r>
              <a:rPr sz="1200" b="0">
                <a:solidFill>
                  <a:srgbClr val="334155"/>
                </a:solidFill>
              </a:rPr>
              <a:t>3. Daily Leadership Digest</a:t>
            </a:r>
          </a:p>
          <a:p xmlns:a="http://schemas.openxmlformats.org/drawingml/2006/main">
            <a:pPr algn="l">
              <a:defRPr sz="1200" b="0">
                <a:solidFill>
                  <a:srgbClr val="334155"/>
                </a:solidFill>
              </a:defRPr>
            </a:pPr>
            <a:r>
              <a:rPr sz="1200" b="0">
                <a:solidFill>
                  <a:srgbClr val="334155"/>
                </a:solidFill>
              </a:rPr>
              <a:t>4. Deal Desk Assistant</a:t>
            </a:r>
          </a:p>
          <a:p xmlns:a="http://schemas.openxmlformats.org/drawingml/2006/main">
            <a:pPr algn="l">
              <a:defRPr sz="1200" b="0">
                <a:solidFill>
                  <a:srgbClr val="334155"/>
                </a:solidFill>
              </a:defRPr>
            </a:pPr>
            <a:r>
              <a:rPr sz="1200" b="0">
                <a:solidFill>
                  <a:srgbClr val="334155"/>
                </a:solidFill>
              </a:rPr>
              <a:t>5. Customer Voice Aggregator</a:t>
            </a:r>
          </a:p>
        </p:txBody>
      </p:sp>
    </p:spTree>
    <p:extLst>
      <p:ext uri="{BB962C8B-B14F-4D97-AF65-F5344CB8AC3E}">
        <p14:creationId xmlns:p14="http://schemas.microsoft.com/office/powerpoint/2010/main" val="13370756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8E5250-4EA7-4723-AA17-2A5EE5700AB0}"/>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3FE296C-EE37-4AF6-B2A6-FC81424D42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 name="">
            <a:extLst xmlns:a="http://schemas.openxmlformats.org/drawingml/2006/main">
              <a:ext uri="{FF2B5EF4-FFF2-40B4-BE49-F238E27FC236}">
                <a16:creationId xmlns:a16="http://schemas.microsoft.com/office/drawing/2014/main" id="{3C486A5E-859E-439E-93C7-8A537C62B0F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4" name="">
            <a:extLst xmlns:a="http://schemas.openxmlformats.org/drawingml/2006/main">
              <a:ext uri="{FF2B5EF4-FFF2-40B4-BE49-F238E27FC236}">
                <a16:creationId xmlns:a16="http://schemas.microsoft.com/office/drawing/2014/main" id="{FAA65BAA-F6E3-4A0A-8DF7-7690C55EDDEB}"/>
              </a:ext>
            </a:extLst>
          </p:cNvPr>
          <p:cNvSpPr>
            <a:spLocks xmlns:a="http://schemas.openxmlformats.org/drawingml/2006/main" noGrp="1"/>
          </p:cNvSpPr>
          <p:nvPr/>
        </p:nvSpPr>
        <p:spPr>
          <a:xfrm xmlns:a="http://schemas.openxmlformats.org/drawingml/2006/main">
            <a:off x="8858250" y="400050"/>
            <a:ext cx="2667000" cy="666750"/>
          </a:xfrm>
          <a:prstGeom xmlns:a="http://schemas.openxmlformats.org/drawingml/2006/main" prst="roundRect">
            <a:avLst>
              <a:gd name="adj" fmla="val 11429"/>
            </a:avLst>
          </a:prstGeom>
          <a:solidFill xmlns:a="http://schemas.openxmlformats.org/drawingml/2006/main">
            <a:srgbClr val="0F766E">
              <a:alpha val="8235"/>
            </a:srgbClr>
          </a:solidFill>
          <a:ln xmlns:a="http://schemas.openxmlformats.org/drawingml/2006/main" w="9525">
            <a:solidFill>
              <a:srgbClr val="0F766E">
                <a:alpha val="25098"/>
              </a:srgbClr>
            </a:solidFill>
            <a:prstDash val="solid"/>
          </a:ln>
        </p:spPr>
      </p:sp>
      <p:sp>
        <p:nvSpPr>
          <p:cNvPr id="5" name="">
            <a:extLst xmlns:a="http://schemas.openxmlformats.org/drawingml/2006/main">
              <a:ext uri="{FF2B5EF4-FFF2-40B4-BE49-F238E27FC236}">
                <a16:creationId xmlns:a16="http://schemas.microsoft.com/office/drawing/2014/main" id="{0648ACC6-37F0-4194-A2DE-CD52BF7C7B12}"/>
              </a:ext>
            </a:extLst>
          </p:cNvPr>
          <p:cNvSpPr>
            <a:spLocks xmlns:a="http://schemas.openxmlformats.org/drawingml/2006/main" noGrp="1"/>
          </p:cNvSpPr>
          <p:nvPr/>
        </p:nvSpPr>
        <p:spPr>
          <a:xfrm xmlns:a="http://schemas.openxmlformats.org/drawingml/2006/main">
            <a:off x="742950" y="685800"/>
            <a:ext cx="8001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defRPr>
            </a:pPr>
            <a:r>
              <a:rPr sz="2250" b="1">
                <a:solidFill>
                  <a:srgbClr val="0F172A"/>
                </a:solidFill>
              </a:rPr>
              <a:t>Why Codex is differentiated</a:t>
            </a:r>
          </a:p>
        </p:txBody>
      </p:sp>
      <p:sp>
        <p:nvSpPr>
          <p:cNvPr id="6" name="">
            <a:extLst xmlns:a="http://schemas.openxmlformats.org/drawingml/2006/main">
              <a:ext uri="{FF2B5EF4-FFF2-40B4-BE49-F238E27FC236}">
                <a16:creationId xmlns:a16="http://schemas.microsoft.com/office/drawing/2014/main" id="{467E6213-D259-44F4-A23D-44F9659A89A1}"/>
              </a:ext>
            </a:extLst>
          </p:cNvPr>
          <p:cNvSpPr>
            <a:spLocks xmlns:a="http://schemas.openxmlformats.org/drawingml/2006/main" noGrp="1"/>
          </p:cNvSpPr>
          <p:nvPr/>
        </p:nvSpPr>
        <p:spPr>
          <a:xfrm xmlns:a="http://schemas.openxmlformats.org/drawingml/2006/main">
            <a:off x="742950" y="1428750"/>
            <a:ext cx="4953000"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6EE779C-D25B-4E43-9C9A-BF8FAA54C117}"/>
              </a:ext>
            </a:extLst>
          </p:cNvPr>
          <p:cNvSpPr>
            <a:spLocks xmlns:a="http://schemas.openxmlformats.org/drawingml/2006/main" noGrp="1"/>
          </p:cNvSpPr>
          <p:nvPr/>
        </p:nvSpPr>
        <p:spPr>
          <a:xfrm xmlns:a="http://schemas.openxmlformats.org/drawingml/2006/main">
            <a:off x="914400" y="1600200"/>
            <a:ext cx="685800" cy="952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FD71D795-F6AB-4209-A718-116AB8F2AFDE}"/>
              </a:ext>
            </a:extLst>
          </p:cNvPr>
          <p:cNvSpPr>
            <a:spLocks xmlns:a="http://schemas.openxmlformats.org/drawingml/2006/main" noGrp="1"/>
          </p:cNvSpPr>
          <p:nvPr/>
        </p:nvSpPr>
        <p:spPr>
          <a:xfrm xmlns:a="http://schemas.openxmlformats.org/drawingml/2006/main">
            <a:off x="914400" y="1809750"/>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Connectors</a:t>
            </a:r>
          </a:p>
        </p:txBody>
      </p:sp>
      <p:sp>
        <p:nvSpPr>
          <p:cNvPr id="9" name="">
            <a:extLst xmlns:a="http://schemas.openxmlformats.org/drawingml/2006/main">
              <a:ext uri="{FF2B5EF4-FFF2-40B4-BE49-F238E27FC236}">
                <a16:creationId xmlns:a16="http://schemas.microsoft.com/office/drawing/2014/main" id="{A27778A1-9A75-4B1B-ADF3-0EC581E37144}"/>
              </a:ext>
            </a:extLst>
          </p:cNvPr>
          <p:cNvSpPr>
            <a:spLocks xmlns:a="http://schemas.openxmlformats.org/drawingml/2006/main" noGrp="1"/>
          </p:cNvSpPr>
          <p:nvPr/>
        </p:nvSpPr>
        <p:spPr>
          <a:xfrm xmlns:a="http://schemas.openxmlformats.org/drawingml/2006/main">
            <a:off x="914400" y="2305050"/>
            <a:ext cx="46101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Slack, Teams, GitHub, and local files provide live operating context instead of static prompt input.</a:t>
            </a:r>
          </a:p>
        </p:txBody>
      </p:sp>
      <p:sp>
        <p:nvSpPr>
          <p:cNvPr id="10" name="">
            <a:extLst xmlns:a="http://schemas.openxmlformats.org/drawingml/2006/main">
              <a:ext uri="{FF2B5EF4-FFF2-40B4-BE49-F238E27FC236}">
                <a16:creationId xmlns:a16="http://schemas.microsoft.com/office/drawing/2014/main" id="{46C33068-51B7-442B-821B-9BD49DB78D52}"/>
              </a:ext>
            </a:extLst>
          </p:cNvPr>
          <p:cNvSpPr>
            <a:spLocks xmlns:a="http://schemas.openxmlformats.org/drawingml/2006/main" noGrp="1"/>
          </p:cNvSpPr>
          <p:nvPr/>
        </p:nvSpPr>
        <p:spPr>
          <a:xfrm xmlns:a="http://schemas.openxmlformats.org/drawingml/2006/main">
            <a:off x="6076950" y="1428750"/>
            <a:ext cx="4953000"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DDCA0E4E-64D1-42FD-BD42-2A88FDC824C3}"/>
              </a:ext>
            </a:extLst>
          </p:cNvPr>
          <p:cNvSpPr>
            <a:spLocks xmlns:a="http://schemas.openxmlformats.org/drawingml/2006/main" noGrp="1"/>
          </p:cNvSpPr>
          <p:nvPr/>
        </p:nvSpPr>
        <p:spPr>
          <a:xfrm xmlns:a="http://schemas.openxmlformats.org/drawingml/2006/main">
            <a:off x="6248400" y="1600200"/>
            <a:ext cx="685800" cy="9525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87D2AEAF-9438-4549-A65B-DBE2F4C708BF}"/>
              </a:ext>
            </a:extLst>
          </p:cNvPr>
          <p:cNvSpPr>
            <a:spLocks xmlns:a="http://schemas.openxmlformats.org/drawingml/2006/main" noGrp="1"/>
          </p:cNvSpPr>
          <p:nvPr/>
        </p:nvSpPr>
        <p:spPr>
          <a:xfrm xmlns:a="http://schemas.openxmlformats.org/drawingml/2006/main">
            <a:off x="6248400" y="1809750"/>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Automations</a:t>
            </a:r>
          </a:p>
        </p:txBody>
      </p:sp>
      <p:sp>
        <p:nvSpPr>
          <p:cNvPr id="13" name="">
            <a:extLst xmlns:a="http://schemas.openxmlformats.org/drawingml/2006/main">
              <a:ext uri="{FF2B5EF4-FFF2-40B4-BE49-F238E27FC236}">
                <a16:creationId xmlns:a16="http://schemas.microsoft.com/office/drawing/2014/main" id="{1597F81F-424E-4ACD-90D4-710E2B79A74D}"/>
              </a:ext>
            </a:extLst>
          </p:cNvPr>
          <p:cNvSpPr>
            <a:spLocks xmlns:a="http://schemas.openxmlformats.org/drawingml/2006/main" noGrp="1"/>
          </p:cNvSpPr>
          <p:nvPr/>
        </p:nvSpPr>
        <p:spPr>
          <a:xfrm xmlns:a="http://schemas.openxmlformats.org/drawingml/2006/main">
            <a:off x="6248400" y="2305050"/>
            <a:ext cx="46101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Recurring runs and heartbeats keep the workflow alive after the first prompt.</a:t>
            </a:r>
          </a:p>
        </p:txBody>
      </p:sp>
      <p:sp>
        <p:nvSpPr>
          <p:cNvPr id="14" name="">
            <a:extLst xmlns:a="http://schemas.openxmlformats.org/drawingml/2006/main">
              <a:ext uri="{FF2B5EF4-FFF2-40B4-BE49-F238E27FC236}">
                <a16:creationId xmlns:a16="http://schemas.microsoft.com/office/drawing/2014/main" id="{AD106EDC-4F19-4773-A2F9-46BF3E100A8D}"/>
              </a:ext>
            </a:extLst>
          </p:cNvPr>
          <p:cNvSpPr>
            <a:spLocks xmlns:a="http://schemas.openxmlformats.org/drawingml/2006/main" noGrp="1"/>
          </p:cNvSpPr>
          <p:nvPr/>
        </p:nvSpPr>
        <p:spPr>
          <a:xfrm xmlns:a="http://schemas.openxmlformats.org/drawingml/2006/main">
            <a:off x="742950" y="3667125"/>
            <a:ext cx="4953000"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C5280D37-251B-4741-81D7-EB2C2B47A43C}"/>
              </a:ext>
            </a:extLst>
          </p:cNvPr>
          <p:cNvSpPr>
            <a:spLocks xmlns:a="http://schemas.openxmlformats.org/drawingml/2006/main" noGrp="1"/>
          </p:cNvSpPr>
          <p:nvPr/>
        </p:nvSpPr>
        <p:spPr>
          <a:xfrm xmlns:a="http://schemas.openxmlformats.org/drawingml/2006/main">
            <a:off x="914400" y="3838575"/>
            <a:ext cx="685800" cy="952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6" name="">
            <a:extLst xmlns:a="http://schemas.openxmlformats.org/drawingml/2006/main">
              <a:ext uri="{FF2B5EF4-FFF2-40B4-BE49-F238E27FC236}">
                <a16:creationId xmlns:a16="http://schemas.microsoft.com/office/drawing/2014/main" id="{1BD5EB44-8EC4-49C8-8AFC-FC60ED2F88E9}"/>
              </a:ext>
            </a:extLst>
          </p:cNvPr>
          <p:cNvSpPr>
            <a:spLocks xmlns:a="http://schemas.openxmlformats.org/drawingml/2006/main" noGrp="1"/>
          </p:cNvSpPr>
          <p:nvPr/>
        </p:nvSpPr>
        <p:spPr>
          <a:xfrm xmlns:a="http://schemas.openxmlformats.org/drawingml/2006/main">
            <a:off x="914400" y="4048125"/>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Computer-use</a:t>
            </a:r>
          </a:p>
        </p:txBody>
      </p:sp>
      <p:sp>
        <p:nvSpPr>
          <p:cNvPr id="17" name="">
            <a:extLst xmlns:a="http://schemas.openxmlformats.org/drawingml/2006/main">
              <a:ext uri="{FF2B5EF4-FFF2-40B4-BE49-F238E27FC236}">
                <a16:creationId xmlns:a16="http://schemas.microsoft.com/office/drawing/2014/main" id="{176F196F-341B-451F-8F50-6BD14428CB4C}"/>
              </a:ext>
            </a:extLst>
          </p:cNvPr>
          <p:cNvSpPr>
            <a:spLocks xmlns:a="http://schemas.openxmlformats.org/drawingml/2006/main" noGrp="1"/>
          </p:cNvSpPr>
          <p:nvPr/>
        </p:nvSpPr>
        <p:spPr>
          <a:xfrm xmlns:a="http://schemas.openxmlformats.org/drawingml/2006/main">
            <a:off x="914400" y="4543425"/>
            <a:ext cx="46101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UI-only systems and dashboards remain in-bounds, even when no API exists.</a:t>
            </a:r>
          </a:p>
        </p:txBody>
      </p:sp>
      <p:sp>
        <p:nvSpPr>
          <p:cNvPr id="18" name="">
            <a:extLst xmlns:a="http://schemas.openxmlformats.org/drawingml/2006/main">
              <a:ext uri="{FF2B5EF4-FFF2-40B4-BE49-F238E27FC236}">
                <a16:creationId xmlns:a16="http://schemas.microsoft.com/office/drawing/2014/main" id="{234F7268-F9ED-4CD1-A22D-09548706A3B7}"/>
              </a:ext>
            </a:extLst>
          </p:cNvPr>
          <p:cNvSpPr>
            <a:spLocks xmlns:a="http://schemas.openxmlformats.org/drawingml/2006/main" noGrp="1"/>
          </p:cNvSpPr>
          <p:nvPr/>
        </p:nvSpPr>
        <p:spPr>
          <a:xfrm xmlns:a="http://schemas.openxmlformats.org/drawingml/2006/main">
            <a:off x="6076950" y="3667125"/>
            <a:ext cx="4953000" cy="19050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6E9B3B69-5C78-4B1A-BA75-29BC20472F26}"/>
              </a:ext>
            </a:extLst>
          </p:cNvPr>
          <p:cNvSpPr>
            <a:spLocks xmlns:a="http://schemas.openxmlformats.org/drawingml/2006/main" noGrp="1"/>
          </p:cNvSpPr>
          <p:nvPr/>
        </p:nvSpPr>
        <p:spPr>
          <a:xfrm xmlns:a="http://schemas.openxmlformats.org/drawingml/2006/main">
            <a:off x="6248400" y="3838575"/>
            <a:ext cx="685800" cy="95250"/>
          </a:xfrm>
          <a:prstGeom xmlns:a="http://schemas.openxmlformats.org/drawingml/2006/main" prst="roundRect">
            <a:avLst>
              <a:gd name="adj" fmla="val 50000"/>
            </a:avLst>
          </a:prstGeom>
          <a:solidFill xmlns:a="http://schemas.openxmlformats.org/drawingml/2006/main">
            <a:srgbClr val="BE123C"/>
          </a:solidFill>
          <a:ln xmlns:a="http://schemas.openxmlformats.org/drawingml/2006/main" w="0">
            <a:solidFill>
              <a:srgbClr val="BE123C"/>
            </a:solidFill>
            <a:prstDash val="solid"/>
          </a:ln>
        </p:spPr>
      </p:sp>
      <p:sp>
        <p:nvSpPr>
          <p:cNvPr id="20" name="">
            <a:extLst xmlns:a="http://schemas.openxmlformats.org/drawingml/2006/main">
              <a:ext uri="{FF2B5EF4-FFF2-40B4-BE49-F238E27FC236}">
                <a16:creationId xmlns:a16="http://schemas.microsoft.com/office/drawing/2014/main" id="{4D5697AC-BDD7-4160-982B-116FD8F689A8}"/>
              </a:ext>
            </a:extLst>
          </p:cNvPr>
          <p:cNvSpPr>
            <a:spLocks xmlns:a="http://schemas.openxmlformats.org/drawingml/2006/main" noGrp="1"/>
          </p:cNvSpPr>
          <p:nvPr/>
        </p:nvSpPr>
        <p:spPr>
          <a:xfrm xmlns:a="http://schemas.openxmlformats.org/drawingml/2006/main">
            <a:off x="6248400" y="4048125"/>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Editable artifacts</a:t>
            </a:r>
          </a:p>
        </p:txBody>
      </p:sp>
      <p:sp>
        <p:nvSpPr>
          <p:cNvPr id="21" name="">
            <a:extLst xmlns:a="http://schemas.openxmlformats.org/drawingml/2006/main">
              <a:ext uri="{FF2B5EF4-FFF2-40B4-BE49-F238E27FC236}">
                <a16:creationId xmlns:a16="http://schemas.microsoft.com/office/drawing/2014/main" id="{7FCE4E6D-9192-4D12-8F2C-52B079B9A849}"/>
              </a:ext>
            </a:extLst>
          </p:cNvPr>
          <p:cNvSpPr>
            <a:spLocks xmlns:a="http://schemas.openxmlformats.org/drawingml/2006/main" noGrp="1"/>
          </p:cNvSpPr>
          <p:nvPr/>
        </p:nvSpPr>
        <p:spPr>
          <a:xfrm xmlns:a="http://schemas.openxmlformats.org/drawingml/2006/main">
            <a:off x="6248400" y="4543425"/>
            <a:ext cx="46101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Excel and PowerPoint outputs make the workflow useful in real business handoffs.</a:t>
            </a:r>
          </a:p>
        </p:txBody>
      </p:sp>
    </p:spTree>
    <p:extLst>
      <p:ext uri="{BB962C8B-B14F-4D97-AF65-F5344CB8AC3E}">
        <p14:creationId xmlns:p14="http://schemas.microsoft.com/office/powerpoint/2010/main" val="4157749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8E5250-4EA7-4723-AA17-2A5EE5700AB0}"/>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3BE38D9-2B1D-478C-BE99-89AD9D4DBD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 name="">
            <a:extLst xmlns:a="http://schemas.openxmlformats.org/drawingml/2006/main">
              <a:ext uri="{FF2B5EF4-FFF2-40B4-BE49-F238E27FC236}">
                <a16:creationId xmlns:a16="http://schemas.microsoft.com/office/drawing/2014/main" id="{923AE90B-BD79-455A-BAC3-1E7D2A4A978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4" name="">
            <a:extLst xmlns:a="http://schemas.openxmlformats.org/drawingml/2006/main">
              <a:ext uri="{FF2B5EF4-FFF2-40B4-BE49-F238E27FC236}">
                <a16:creationId xmlns:a16="http://schemas.microsoft.com/office/drawing/2014/main" id="{570B6B23-DF52-4919-9EA2-AFE5F3FC6946}"/>
              </a:ext>
            </a:extLst>
          </p:cNvPr>
          <p:cNvSpPr>
            <a:spLocks xmlns:a="http://schemas.openxmlformats.org/drawingml/2006/main" noGrp="1"/>
          </p:cNvSpPr>
          <p:nvPr/>
        </p:nvSpPr>
        <p:spPr>
          <a:xfrm xmlns:a="http://schemas.openxmlformats.org/drawingml/2006/main">
            <a:off x="8858250" y="400050"/>
            <a:ext cx="2667000" cy="666750"/>
          </a:xfrm>
          <a:prstGeom xmlns:a="http://schemas.openxmlformats.org/drawingml/2006/main" prst="roundRect">
            <a:avLst>
              <a:gd name="adj" fmla="val 11429"/>
            </a:avLst>
          </a:prstGeom>
          <a:solidFill xmlns:a="http://schemas.openxmlformats.org/drawingml/2006/main">
            <a:srgbClr val="D97706">
              <a:alpha val="8235"/>
            </a:srgbClr>
          </a:solidFill>
          <a:ln xmlns:a="http://schemas.openxmlformats.org/drawingml/2006/main" w="9525">
            <a:solidFill>
              <a:srgbClr val="D97706">
                <a:alpha val="25098"/>
              </a:srgbClr>
            </a:solidFill>
            <a:prstDash val="solid"/>
          </a:ln>
        </p:spPr>
      </p:sp>
      <p:sp>
        <p:nvSpPr>
          <p:cNvPr id="5" name="">
            <a:extLst xmlns:a="http://schemas.openxmlformats.org/drawingml/2006/main">
              <a:ext uri="{FF2B5EF4-FFF2-40B4-BE49-F238E27FC236}">
                <a16:creationId xmlns:a16="http://schemas.microsoft.com/office/drawing/2014/main" id="{833DC638-B668-476D-802A-BBA3C5ADF516}"/>
              </a:ext>
            </a:extLst>
          </p:cNvPr>
          <p:cNvSpPr>
            <a:spLocks xmlns:a="http://schemas.openxmlformats.org/drawingml/2006/main" noGrp="1"/>
          </p:cNvSpPr>
          <p:nvPr/>
        </p:nvSpPr>
        <p:spPr>
          <a:xfrm xmlns:a="http://schemas.openxmlformats.org/drawingml/2006/main">
            <a:off x="742950" y="685800"/>
            <a:ext cx="7239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defRPr>
            </a:pPr>
            <a:r>
              <a:rPr sz="2250" b="1">
                <a:solidFill>
                  <a:srgbClr val="0F172A"/>
                </a:solidFill>
              </a:rPr>
              <a:t>Portfolio and packaging</a:t>
            </a:r>
          </a:p>
        </p:txBody>
      </p:sp>
      <p:sp>
        <p:nvSpPr>
          <p:cNvPr id="6" name="">
            <a:extLst xmlns:a="http://schemas.openxmlformats.org/drawingml/2006/main">
              <a:ext uri="{FF2B5EF4-FFF2-40B4-BE49-F238E27FC236}">
                <a16:creationId xmlns:a16="http://schemas.microsoft.com/office/drawing/2014/main" id="{050BF37E-E922-4728-AB60-B109DA80ED57}"/>
              </a:ext>
            </a:extLst>
          </p:cNvPr>
          <p:cNvSpPr>
            <a:spLocks xmlns:a="http://schemas.openxmlformats.org/drawingml/2006/main" noGrp="1"/>
          </p:cNvSpPr>
          <p:nvPr/>
        </p:nvSpPr>
        <p:spPr>
          <a:xfrm xmlns:a="http://schemas.openxmlformats.org/drawingml/2006/main">
            <a:off x="742950" y="1428750"/>
            <a:ext cx="3238500" cy="41910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A1A97A06-67D3-4E3C-881D-1318E275EA51}"/>
              </a:ext>
            </a:extLst>
          </p:cNvPr>
          <p:cNvSpPr>
            <a:spLocks xmlns:a="http://schemas.openxmlformats.org/drawingml/2006/main" noGrp="1"/>
          </p:cNvSpPr>
          <p:nvPr/>
        </p:nvSpPr>
        <p:spPr>
          <a:xfrm xmlns:a="http://schemas.openxmlformats.org/drawingml/2006/main">
            <a:off x="914400" y="1600200"/>
            <a:ext cx="685800" cy="952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1ABB3418-D0E0-44DA-B41D-0E358131F7A7}"/>
              </a:ext>
            </a:extLst>
          </p:cNvPr>
          <p:cNvSpPr>
            <a:spLocks xmlns:a="http://schemas.openxmlformats.org/drawingml/2006/main" noGrp="1"/>
          </p:cNvSpPr>
          <p:nvPr/>
        </p:nvSpPr>
        <p:spPr>
          <a:xfrm xmlns:a="http://schemas.openxmlformats.org/drawingml/2006/main">
            <a:off x="914400" y="1809750"/>
            <a:ext cx="2895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Tier 1</a:t>
            </a:r>
          </a:p>
        </p:txBody>
      </p:sp>
      <p:sp>
        <p:nvSpPr>
          <p:cNvPr id="9" name="">
            <a:extLst xmlns:a="http://schemas.openxmlformats.org/drawingml/2006/main">
              <a:ext uri="{FF2B5EF4-FFF2-40B4-BE49-F238E27FC236}">
                <a16:creationId xmlns:a16="http://schemas.microsoft.com/office/drawing/2014/main" id="{31D9991E-02FE-40E1-AEC5-3B94D110319A}"/>
              </a:ext>
            </a:extLst>
          </p:cNvPr>
          <p:cNvSpPr>
            <a:spLocks xmlns:a="http://schemas.openxmlformats.org/drawingml/2006/main" noGrp="1"/>
          </p:cNvSpPr>
          <p:nvPr/>
        </p:nvSpPr>
        <p:spPr>
          <a:xfrm xmlns:a="http://schemas.openxmlformats.org/drawingml/2006/main">
            <a:off x="914400" y="2305050"/>
            <a:ext cx="2895600" cy="3143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Personal Chief of Staff</a:t>
            </a:r>
          </a:p>
          <a:p xmlns:a="http://schemas.openxmlformats.org/drawingml/2006/main">
            <a:r>
              <a:t/>
            </a:r>
          </a:p>
          <a:p xmlns:a="http://schemas.openxmlformats.org/drawingml/2006/main">
            <a:pPr algn="l">
              <a:defRPr sz="1200" b="0">
                <a:solidFill>
                  <a:srgbClr val="334155"/>
                </a:solidFill>
              </a:defRPr>
            </a:pPr>
            <a:r>
              <a:rPr sz="1200" b="0">
                <a:solidFill>
                  <a:srgbClr val="334155"/>
                </a:solidFill>
              </a:rPr>
              <a:t>Daily Leadership Digest</a:t>
            </a:r>
          </a:p>
          <a:p xmlns:a="http://schemas.openxmlformats.org/drawingml/2006/main">
            <a:r>
              <a:t/>
            </a:r>
          </a:p>
          <a:p xmlns:a="http://schemas.openxmlformats.org/drawingml/2006/main">
            <a:pPr algn="l">
              <a:defRPr sz="1200" b="0">
                <a:solidFill>
                  <a:srgbClr val="334155"/>
                </a:solidFill>
              </a:defRPr>
            </a:pPr>
            <a:r>
              <a:rPr sz="1200" b="0">
                <a:solidFill>
                  <a:srgbClr val="334155"/>
                </a:solidFill>
              </a:rPr>
              <a:t>High frequency, low adoption friction, strong recurring value.</a:t>
            </a:r>
          </a:p>
        </p:txBody>
      </p:sp>
      <p:sp>
        <p:nvSpPr>
          <p:cNvPr id="10" name="">
            <a:extLst xmlns:a="http://schemas.openxmlformats.org/drawingml/2006/main">
              <a:ext uri="{FF2B5EF4-FFF2-40B4-BE49-F238E27FC236}">
                <a16:creationId xmlns:a16="http://schemas.microsoft.com/office/drawing/2014/main" id="{F83A79BD-0BEA-4C66-B47D-56671C4B2FEE}"/>
              </a:ext>
            </a:extLst>
          </p:cNvPr>
          <p:cNvSpPr>
            <a:spLocks xmlns:a="http://schemas.openxmlformats.org/drawingml/2006/main" noGrp="1"/>
          </p:cNvSpPr>
          <p:nvPr/>
        </p:nvSpPr>
        <p:spPr>
          <a:xfrm xmlns:a="http://schemas.openxmlformats.org/drawingml/2006/main">
            <a:off x="4476750" y="1428750"/>
            <a:ext cx="3238500" cy="41910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0DDABB85-DCC4-4EFF-8DD9-B44130A65620}"/>
              </a:ext>
            </a:extLst>
          </p:cNvPr>
          <p:cNvSpPr>
            <a:spLocks xmlns:a="http://schemas.openxmlformats.org/drawingml/2006/main" noGrp="1"/>
          </p:cNvSpPr>
          <p:nvPr/>
        </p:nvSpPr>
        <p:spPr>
          <a:xfrm xmlns:a="http://schemas.openxmlformats.org/drawingml/2006/main">
            <a:off x="4648200" y="1600200"/>
            <a:ext cx="685800" cy="9525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solidFill>
              <a:srgbClr val="0F766E"/>
            </a:solidFill>
            <a:prstDash val="solid"/>
          </a:ln>
        </p:spPr>
      </p:sp>
      <p:sp>
        <p:nvSpPr>
          <p:cNvPr id="12" name="">
            <a:extLst xmlns:a="http://schemas.openxmlformats.org/drawingml/2006/main">
              <a:ext uri="{FF2B5EF4-FFF2-40B4-BE49-F238E27FC236}">
                <a16:creationId xmlns:a16="http://schemas.microsoft.com/office/drawing/2014/main" id="{6EC6ED42-84E3-45B1-A2FE-55A7280F8410}"/>
              </a:ext>
            </a:extLst>
          </p:cNvPr>
          <p:cNvSpPr>
            <a:spLocks xmlns:a="http://schemas.openxmlformats.org/drawingml/2006/main" noGrp="1"/>
          </p:cNvSpPr>
          <p:nvPr/>
        </p:nvSpPr>
        <p:spPr>
          <a:xfrm xmlns:a="http://schemas.openxmlformats.org/drawingml/2006/main">
            <a:off x="4648200" y="1809750"/>
            <a:ext cx="2895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Tier 2</a:t>
            </a:r>
          </a:p>
        </p:txBody>
      </p:sp>
      <p:sp>
        <p:nvSpPr>
          <p:cNvPr id="13" name="">
            <a:extLst xmlns:a="http://schemas.openxmlformats.org/drawingml/2006/main">
              <a:ext uri="{FF2B5EF4-FFF2-40B4-BE49-F238E27FC236}">
                <a16:creationId xmlns:a16="http://schemas.microsoft.com/office/drawing/2014/main" id="{A79D9E13-9831-4FCD-9810-CF1D452D192A}"/>
              </a:ext>
            </a:extLst>
          </p:cNvPr>
          <p:cNvSpPr>
            <a:spLocks xmlns:a="http://schemas.openxmlformats.org/drawingml/2006/main" noGrp="1"/>
          </p:cNvSpPr>
          <p:nvPr/>
        </p:nvSpPr>
        <p:spPr>
          <a:xfrm xmlns:a="http://schemas.openxmlformats.org/drawingml/2006/main">
            <a:off x="4648200" y="2305050"/>
            <a:ext cx="2895600" cy="3143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Executive Briefing Machine</a:t>
            </a:r>
          </a:p>
          <a:p xmlns:a="http://schemas.openxmlformats.org/drawingml/2006/main">
            <a:r>
              <a:t/>
            </a:r>
          </a:p>
          <a:p xmlns:a="http://schemas.openxmlformats.org/drawingml/2006/main">
            <a:pPr algn="l">
              <a:defRPr sz="1200" b="0">
                <a:solidFill>
                  <a:srgbClr val="334155"/>
                </a:solidFill>
              </a:defRPr>
            </a:pPr>
            <a:r>
              <a:rPr sz="1200" b="0">
                <a:solidFill>
                  <a:srgbClr val="334155"/>
                </a:solidFill>
              </a:rPr>
              <a:t>Best visible proof of the editable artifact wedge.</a:t>
            </a:r>
          </a:p>
        </p:txBody>
      </p:sp>
      <p:sp>
        <p:nvSpPr>
          <p:cNvPr id="14" name="">
            <a:extLst xmlns:a="http://schemas.openxmlformats.org/drawingml/2006/main">
              <a:ext uri="{FF2B5EF4-FFF2-40B4-BE49-F238E27FC236}">
                <a16:creationId xmlns:a16="http://schemas.microsoft.com/office/drawing/2014/main" id="{13AC1246-128C-45BE-8934-31C23DE59A67}"/>
              </a:ext>
            </a:extLst>
          </p:cNvPr>
          <p:cNvSpPr>
            <a:spLocks xmlns:a="http://schemas.openxmlformats.org/drawingml/2006/main" noGrp="1"/>
          </p:cNvSpPr>
          <p:nvPr/>
        </p:nvSpPr>
        <p:spPr>
          <a:xfrm xmlns:a="http://schemas.openxmlformats.org/drawingml/2006/main">
            <a:off x="8210550" y="1428750"/>
            <a:ext cx="3238500" cy="41910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F8688290-7BBA-4FA6-A04F-B155A4980D95}"/>
              </a:ext>
            </a:extLst>
          </p:cNvPr>
          <p:cNvSpPr>
            <a:spLocks xmlns:a="http://schemas.openxmlformats.org/drawingml/2006/main" noGrp="1"/>
          </p:cNvSpPr>
          <p:nvPr/>
        </p:nvSpPr>
        <p:spPr>
          <a:xfrm xmlns:a="http://schemas.openxmlformats.org/drawingml/2006/main">
            <a:off x="8382000" y="1600200"/>
            <a:ext cx="685800" cy="95250"/>
          </a:xfrm>
          <a:prstGeom xmlns:a="http://schemas.openxmlformats.org/drawingml/2006/main" prst="roundRect">
            <a:avLst>
              <a:gd name="adj" fmla="val 50000"/>
            </a:avLst>
          </a:prstGeom>
          <a:solidFill xmlns:a="http://schemas.openxmlformats.org/drawingml/2006/main">
            <a:srgbClr val="BE123C"/>
          </a:solidFill>
          <a:ln xmlns:a="http://schemas.openxmlformats.org/drawingml/2006/main" w="0">
            <a:solidFill>
              <a:srgbClr val="BE123C"/>
            </a:solidFill>
            <a:prstDash val="solid"/>
          </a:ln>
        </p:spPr>
      </p:sp>
      <p:sp>
        <p:nvSpPr>
          <p:cNvPr id="16" name="">
            <a:extLst xmlns:a="http://schemas.openxmlformats.org/drawingml/2006/main">
              <a:ext uri="{FF2B5EF4-FFF2-40B4-BE49-F238E27FC236}">
                <a16:creationId xmlns:a16="http://schemas.microsoft.com/office/drawing/2014/main" id="{92329F63-571F-47D3-B273-60203B7B76B1}"/>
              </a:ext>
            </a:extLst>
          </p:cNvPr>
          <p:cNvSpPr>
            <a:spLocks xmlns:a="http://schemas.openxmlformats.org/drawingml/2006/main" noGrp="1"/>
          </p:cNvSpPr>
          <p:nvPr/>
        </p:nvSpPr>
        <p:spPr>
          <a:xfrm xmlns:a="http://schemas.openxmlformats.org/drawingml/2006/main">
            <a:off x="8382000" y="1809750"/>
            <a:ext cx="2895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Tier 3</a:t>
            </a:r>
          </a:p>
        </p:txBody>
      </p:sp>
      <p:sp>
        <p:nvSpPr>
          <p:cNvPr id="17" name="">
            <a:extLst xmlns:a="http://schemas.openxmlformats.org/drawingml/2006/main">
              <a:ext uri="{FF2B5EF4-FFF2-40B4-BE49-F238E27FC236}">
                <a16:creationId xmlns:a16="http://schemas.microsoft.com/office/drawing/2014/main" id="{672D955E-399C-4322-BCC9-23FBE4097D8D}"/>
              </a:ext>
            </a:extLst>
          </p:cNvPr>
          <p:cNvSpPr>
            <a:spLocks xmlns:a="http://schemas.openxmlformats.org/drawingml/2006/main" noGrp="1"/>
          </p:cNvSpPr>
          <p:nvPr/>
        </p:nvSpPr>
        <p:spPr>
          <a:xfrm xmlns:a="http://schemas.openxmlformats.org/drawingml/2006/main">
            <a:off x="8382000" y="2305050"/>
            <a:ext cx="2895600" cy="3143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Deal Desk Assistant</a:t>
            </a:r>
          </a:p>
          <a:p xmlns:a="http://schemas.openxmlformats.org/drawingml/2006/main">
            <a:r>
              <a:t/>
            </a:r>
          </a:p>
          <a:p xmlns:a="http://schemas.openxmlformats.org/drawingml/2006/main">
            <a:pPr algn="l">
              <a:defRPr sz="1200" b="0">
                <a:solidFill>
                  <a:srgbClr val="334155"/>
                </a:solidFill>
              </a:defRPr>
            </a:pPr>
            <a:r>
              <a:rPr sz="1200" b="0">
                <a:solidFill>
                  <a:srgbClr val="334155"/>
                </a:solidFill>
              </a:rPr>
              <a:t>Customer Voice Aggregator</a:t>
            </a:r>
          </a:p>
          <a:p xmlns:a="http://schemas.openxmlformats.org/drawingml/2006/main">
            <a:r>
              <a:t/>
            </a:r>
          </a:p>
          <a:p xmlns:a="http://schemas.openxmlformats.org/drawingml/2006/main">
            <a:pPr algn="l">
              <a:defRPr sz="1200" b="0">
                <a:solidFill>
                  <a:srgbClr val="334155"/>
                </a:solidFill>
              </a:defRPr>
            </a:pPr>
            <a:r>
              <a:rPr sz="1200" b="0">
                <a:solidFill>
                  <a:srgbClr val="334155"/>
                </a:solidFill>
              </a:rPr>
              <a:t>Vertical packs with strong business value and computer-use leverage.</a:t>
            </a:r>
          </a:p>
        </p:txBody>
      </p:sp>
    </p:spTree>
    <p:extLst>
      <p:ext uri="{BB962C8B-B14F-4D97-AF65-F5344CB8AC3E}">
        <p14:creationId xmlns:p14="http://schemas.microsoft.com/office/powerpoint/2010/main" val="78247397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8E5250-4EA7-4723-AA17-2A5EE5700AB0}"/>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26670CC-F4D5-4B3A-B6BF-D7EF57354E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 name="">
            <a:extLst xmlns:a="http://schemas.openxmlformats.org/drawingml/2006/main">
              <a:ext uri="{FF2B5EF4-FFF2-40B4-BE49-F238E27FC236}">
                <a16:creationId xmlns:a16="http://schemas.microsoft.com/office/drawing/2014/main" id="{F18A32B1-9674-483A-BE5D-0298B9A3282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4" name="">
            <a:extLst xmlns:a="http://schemas.openxmlformats.org/drawingml/2006/main">
              <a:ext uri="{FF2B5EF4-FFF2-40B4-BE49-F238E27FC236}">
                <a16:creationId xmlns:a16="http://schemas.microsoft.com/office/drawing/2014/main" id="{64EA8013-4BE1-4B53-BE24-D7BC7B862F7B}"/>
              </a:ext>
            </a:extLst>
          </p:cNvPr>
          <p:cNvSpPr>
            <a:spLocks xmlns:a="http://schemas.openxmlformats.org/drawingml/2006/main" noGrp="1"/>
          </p:cNvSpPr>
          <p:nvPr/>
        </p:nvSpPr>
        <p:spPr>
          <a:xfrm xmlns:a="http://schemas.openxmlformats.org/drawingml/2006/main">
            <a:off x="8858250" y="400050"/>
            <a:ext cx="2667000" cy="666750"/>
          </a:xfrm>
          <a:prstGeom xmlns:a="http://schemas.openxmlformats.org/drawingml/2006/main" prst="roundRect">
            <a:avLst>
              <a:gd name="adj" fmla="val 11429"/>
            </a:avLst>
          </a:prstGeom>
          <a:solidFill xmlns:a="http://schemas.openxmlformats.org/drawingml/2006/main">
            <a:srgbClr val="2563EB">
              <a:alpha val="8235"/>
            </a:srgbClr>
          </a:solidFill>
          <a:ln xmlns:a="http://schemas.openxmlformats.org/drawingml/2006/main" w="9525">
            <a:solidFill>
              <a:srgbClr val="2563EB">
                <a:alpha val="25098"/>
              </a:srgbClr>
            </a:solidFill>
            <a:prstDash val="solid"/>
          </a:ln>
        </p:spPr>
      </p:sp>
      <p:sp>
        <p:nvSpPr>
          <p:cNvPr id="5" name="">
            <a:extLst xmlns:a="http://schemas.openxmlformats.org/drawingml/2006/main">
              <a:ext uri="{FF2B5EF4-FFF2-40B4-BE49-F238E27FC236}">
                <a16:creationId xmlns:a16="http://schemas.microsoft.com/office/drawing/2014/main" id="{FAB3FA8A-7A64-4F85-843F-47ECEAE0B972}"/>
              </a:ext>
            </a:extLst>
          </p:cNvPr>
          <p:cNvSpPr>
            <a:spLocks xmlns:a="http://schemas.openxmlformats.org/drawingml/2006/main" noGrp="1"/>
          </p:cNvSpPr>
          <p:nvPr/>
        </p:nvSpPr>
        <p:spPr>
          <a:xfrm xmlns:a="http://schemas.openxmlformats.org/drawingml/2006/main">
            <a:off x="742950" y="685800"/>
            <a:ext cx="7810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defRPr>
            </a:pPr>
            <a:r>
              <a:rPr sz="2250" b="1">
                <a:solidFill>
                  <a:srgbClr val="0F172A"/>
                </a:solidFill>
              </a:rPr>
              <a:t>Top workflow designs</a:t>
            </a:r>
          </a:p>
        </p:txBody>
      </p:sp>
      <p:sp>
        <p:nvSpPr>
          <p:cNvPr id="6" name="">
            <a:extLst xmlns:a="http://schemas.openxmlformats.org/drawingml/2006/main">
              <a:ext uri="{FF2B5EF4-FFF2-40B4-BE49-F238E27FC236}">
                <a16:creationId xmlns:a16="http://schemas.microsoft.com/office/drawing/2014/main" id="{AB506091-F0FE-4E86-BE62-E7DE826EC1AF}"/>
              </a:ext>
            </a:extLst>
          </p:cNvPr>
          <p:cNvSpPr>
            <a:spLocks xmlns:a="http://schemas.openxmlformats.org/drawingml/2006/main" noGrp="1"/>
          </p:cNvSpPr>
          <p:nvPr/>
        </p:nvSpPr>
        <p:spPr>
          <a:xfrm xmlns:a="http://schemas.openxmlformats.org/drawingml/2006/main">
            <a:off x="742950" y="1428750"/>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5878B40-C1F7-4D0D-A4F8-EFEB62F18F9C}"/>
              </a:ext>
            </a:extLst>
          </p:cNvPr>
          <p:cNvSpPr>
            <a:spLocks xmlns:a="http://schemas.openxmlformats.org/drawingml/2006/main" noGrp="1"/>
          </p:cNvSpPr>
          <p:nvPr/>
        </p:nvSpPr>
        <p:spPr>
          <a:xfrm xmlns:a="http://schemas.openxmlformats.org/drawingml/2006/main">
            <a:off x="914400" y="1600200"/>
            <a:ext cx="685800" cy="9525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F149F093-4C91-4181-A9DA-0061362782D6}"/>
              </a:ext>
            </a:extLst>
          </p:cNvPr>
          <p:cNvSpPr>
            <a:spLocks xmlns:a="http://schemas.openxmlformats.org/drawingml/2006/main" noGrp="1"/>
          </p:cNvSpPr>
          <p:nvPr/>
        </p:nvSpPr>
        <p:spPr>
          <a:xfrm xmlns:a="http://schemas.openxmlformats.org/drawingml/2006/main">
            <a:off x="914400" y="1809750"/>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Chief of Staff</a:t>
            </a:r>
          </a:p>
        </p:txBody>
      </p:sp>
      <p:sp>
        <p:nvSpPr>
          <p:cNvPr id="9" name="">
            <a:extLst xmlns:a="http://schemas.openxmlformats.org/drawingml/2006/main">
              <a:ext uri="{FF2B5EF4-FFF2-40B4-BE49-F238E27FC236}">
                <a16:creationId xmlns:a16="http://schemas.microsoft.com/office/drawing/2014/main" id="{3892E211-94A9-41EF-9ECA-AC60A7942952}"/>
              </a:ext>
            </a:extLst>
          </p:cNvPr>
          <p:cNvSpPr>
            <a:spLocks xmlns:a="http://schemas.openxmlformats.org/drawingml/2006/main" noGrp="1"/>
          </p:cNvSpPr>
          <p:nvPr/>
        </p:nvSpPr>
        <p:spPr>
          <a:xfrm xmlns:a="http://schemas.openxmlformats.org/drawingml/2006/main">
            <a:off x="914400" y="2305050"/>
            <a:ext cx="461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Triage messages, track commitments, draft replies, and schedule follow-through.</a:t>
            </a:r>
          </a:p>
        </p:txBody>
      </p:sp>
      <p:sp>
        <p:nvSpPr>
          <p:cNvPr id="10" name="">
            <a:extLst xmlns:a="http://schemas.openxmlformats.org/drawingml/2006/main">
              <a:ext uri="{FF2B5EF4-FFF2-40B4-BE49-F238E27FC236}">
                <a16:creationId xmlns:a16="http://schemas.microsoft.com/office/drawing/2014/main" id="{ED6232A2-2360-4461-92A8-E56D42156B5A}"/>
              </a:ext>
            </a:extLst>
          </p:cNvPr>
          <p:cNvSpPr>
            <a:spLocks xmlns:a="http://schemas.openxmlformats.org/drawingml/2006/main" noGrp="1"/>
          </p:cNvSpPr>
          <p:nvPr/>
        </p:nvSpPr>
        <p:spPr>
          <a:xfrm xmlns:a="http://schemas.openxmlformats.org/drawingml/2006/main">
            <a:off x="6076950" y="1428750"/>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63CC268F-E116-453A-B7B1-D1348241DD07}"/>
              </a:ext>
            </a:extLst>
          </p:cNvPr>
          <p:cNvSpPr>
            <a:spLocks xmlns:a="http://schemas.openxmlformats.org/drawingml/2006/main" noGrp="1"/>
          </p:cNvSpPr>
          <p:nvPr/>
        </p:nvSpPr>
        <p:spPr>
          <a:xfrm xmlns:a="http://schemas.openxmlformats.org/drawingml/2006/main">
            <a:off x="6248400" y="1600200"/>
            <a:ext cx="685800" cy="952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2" name="">
            <a:extLst xmlns:a="http://schemas.openxmlformats.org/drawingml/2006/main">
              <a:ext uri="{FF2B5EF4-FFF2-40B4-BE49-F238E27FC236}">
                <a16:creationId xmlns:a16="http://schemas.microsoft.com/office/drawing/2014/main" id="{B9A1238A-DF59-4BDF-B0E2-A5F890AB9640}"/>
              </a:ext>
            </a:extLst>
          </p:cNvPr>
          <p:cNvSpPr>
            <a:spLocks xmlns:a="http://schemas.openxmlformats.org/drawingml/2006/main" noGrp="1"/>
          </p:cNvSpPr>
          <p:nvPr/>
        </p:nvSpPr>
        <p:spPr>
          <a:xfrm xmlns:a="http://schemas.openxmlformats.org/drawingml/2006/main">
            <a:off x="6248400" y="1809750"/>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Executive Briefing</a:t>
            </a:r>
          </a:p>
        </p:txBody>
      </p:sp>
      <p:sp>
        <p:nvSpPr>
          <p:cNvPr id="13" name="">
            <a:extLst xmlns:a="http://schemas.openxmlformats.org/drawingml/2006/main">
              <a:ext uri="{FF2B5EF4-FFF2-40B4-BE49-F238E27FC236}">
                <a16:creationId xmlns:a16="http://schemas.microsoft.com/office/drawing/2014/main" id="{BA242087-0908-4D2F-B045-3AF5C665B97D}"/>
              </a:ext>
            </a:extLst>
          </p:cNvPr>
          <p:cNvSpPr>
            <a:spLocks xmlns:a="http://schemas.openxmlformats.org/drawingml/2006/main" noGrp="1"/>
          </p:cNvSpPr>
          <p:nvPr/>
        </p:nvSpPr>
        <p:spPr>
          <a:xfrm xmlns:a="http://schemas.openxmlformats.org/drawingml/2006/main">
            <a:off x="6248400" y="2305050"/>
            <a:ext cx="461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Collect operating context, pull KPI data, and output board-ready workbook plus deck.</a:t>
            </a:r>
          </a:p>
        </p:txBody>
      </p:sp>
      <p:sp>
        <p:nvSpPr>
          <p:cNvPr id="14" name="">
            <a:extLst xmlns:a="http://schemas.openxmlformats.org/drawingml/2006/main">
              <a:ext uri="{FF2B5EF4-FFF2-40B4-BE49-F238E27FC236}">
                <a16:creationId xmlns:a16="http://schemas.microsoft.com/office/drawing/2014/main" id="{EA024706-E138-4E41-BDB9-74EAFDB1E3C5}"/>
              </a:ext>
            </a:extLst>
          </p:cNvPr>
          <p:cNvSpPr>
            <a:spLocks xmlns:a="http://schemas.openxmlformats.org/drawingml/2006/main" noGrp="1"/>
          </p:cNvSpPr>
          <p:nvPr/>
        </p:nvSpPr>
        <p:spPr>
          <a:xfrm xmlns:a="http://schemas.openxmlformats.org/drawingml/2006/main">
            <a:off x="742950" y="2952750"/>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AAC06E19-2B23-4FD8-804F-DB59CBA2A2FA}"/>
              </a:ext>
            </a:extLst>
          </p:cNvPr>
          <p:cNvSpPr>
            <a:spLocks xmlns:a="http://schemas.openxmlformats.org/drawingml/2006/main" noGrp="1"/>
          </p:cNvSpPr>
          <p:nvPr/>
        </p:nvSpPr>
        <p:spPr>
          <a:xfrm xmlns:a="http://schemas.openxmlformats.org/drawingml/2006/main">
            <a:off x="914400" y="3124200"/>
            <a:ext cx="685800" cy="9525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solidFill>
              <a:srgbClr val="0F766E"/>
            </a:solidFill>
            <a:prstDash val="solid"/>
          </a:ln>
        </p:spPr>
      </p:sp>
      <p:sp>
        <p:nvSpPr>
          <p:cNvPr id="16" name="">
            <a:extLst xmlns:a="http://schemas.openxmlformats.org/drawingml/2006/main">
              <a:ext uri="{FF2B5EF4-FFF2-40B4-BE49-F238E27FC236}">
                <a16:creationId xmlns:a16="http://schemas.microsoft.com/office/drawing/2014/main" id="{E365841B-D45F-40E0-933B-C8058C22C946}"/>
              </a:ext>
            </a:extLst>
          </p:cNvPr>
          <p:cNvSpPr>
            <a:spLocks xmlns:a="http://schemas.openxmlformats.org/drawingml/2006/main" noGrp="1"/>
          </p:cNvSpPr>
          <p:nvPr/>
        </p:nvSpPr>
        <p:spPr>
          <a:xfrm xmlns:a="http://schemas.openxmlformats.org/drawingml/2006/main">
            <a:off x="914400" y="3333750"/>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Leadership Digest</a:t>
            </a:r>
          </a:p>
        </p:txBody>
      </p:sp>
      <p:sp>
        <p:nvSpPr>
          <p:cNvPr id="17" name="">
            <a:extLst xmlns:a="http://schemas.openxmlformats.org/drawingml/2006/main">
              <a:ext uri="{FF2B5EF4-FFF2-40B4-BE49-F238E27FC236}">
                <a16:creationId xmlns:a16="http://schemas.microsoft.com/office/drawing/2014/main" id="{BC4FB828-6701-4FDB-B9BF-9CB0B039F288}"/>
              </a:ext>
            </a:extLst>
          </p:cNvPr>
          <p:cNvSpPr>
            <a:spLocks xmlns:a="http://schemas.openxmlformats.org/drawingml/2006/main" noGrp="1"/>
          </p:cNvSpPr>
          <p:nvPr/>
        </p:nvSpPr>
        <p:spPr>
          <a:xfrm xmlns:a="http://schemas.openxmlformats.org/drawingml/2006/main">
            <a:off x="914400" y="3829050"/>
            <a:ext cx="461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Summarize progress, blockers, decisions, and escalations every day.</a:t>
            </a:r>
          </a:p>
        </p:txBody>
      </p:sp>
      <p:sp>
        <p:nvSpPr>
          <p:cNvPr id="18" name="">
            <a:extLst xmlns:a="http://schemas.openxmlformats.org/drawingml/2006/main">
              <a:ext uri="{FF2B5EF4-FFF2-40B4-BE49-F238E27FC236}">
                <a16:creationId xmlns:a16="http://schemas.microsoft.com/office/drawing/2014/main" id="{895B48DA-4B35-4C1E-A69C-69A5D6E6C8AB}"/>
              </a:ext>
            </a:extLst>
          </p:cNvPr>
          <p:cNvSpPr>
            <a:spLocks xmlns:a="http://schemas.openxmlformats.org/drawingml/2006/main" noGrp="1"/>
          </p:cNvSpPr>
          <p:nvPr/>
        </p:nvSpPr>
        <p:spPr>
          <a:xfrm xmlns:a="http://schemas.openxmlformats.org/drawingml/2006/main">
            <a:off x="6076950" y="2952750"/>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5887DD64-D8E4-4603-9A96-CB77B30C9D51}"/>
              </a:ext>
            </a:extLst>
          </p:cNvPr>
          <p:cNvSpPr>
            <a:spLocks xmlns:a="http://schemas.openxmlformats.org/drawingml/2006/main" noGrp="1"/>
          </p:cNvSpPr>
          <p:nvPr/>
        </p:nvSpPr>
        <p:spPr>
          <a:xfrm xmlns:a="http://schemas.openxmlformats.org/drawingml/2006/main">
            <a:off x="6248400" y="3124200"/>
            <a:ext cx="685800" cy="952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20" name="">
            <a:extLst xmlns:a="http://schemas.openxmlformats.org/drawingml/2006/main">
              <a:ext uri="{FF2B5EF4-FFF2-40B4-BE49-F238E27FC236}">
                <a16:creationId xmlns:a16="http://schemas.microsoft.com/office/drawing/2014/main" id="{63E8D54C-BE00-43DF-858D-E9862CFE20E0}"/>
              </a:ext>
            </a:extLst>
          </p:cNvPr>
          <p:cNvSpPr>
            <a:spLocks xmlns:a="http://schemas.openxmlformats.org/drawingml/2006/main" noGrp="1"/>
          </p:cNvSpPr>
          <p:nvPr/>
        </p:nvSpPr>
        <p:spPr>
          <a:xfrm xmlns:a="http://schemas.openxmlformats.org/drawingml/2006/main">
            <a:off x="6248400" y="3333750"/>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Deal Desk</a:t>
            </a:r>
          </a:p>
        </p:txBody>
      </p:sp>
      <p:sp>
        <p:nvSpPr>
          <p:cNvPr id="21" name="">
            <a:extLst xmlns:a="http://schemas.openxmlformats.org/drawingml/2006/main">
              <a:ext uri="{FF2B5EF4-FFF2-40B4-BE49-F238E27FC236}">
                <a16:creationId xmlns:a16="http://schemas.microsoft.com/office/drawing/2014/main" id="{CF1256F0-CB08-4C73-B3CE-3E3B13B37A91}"/>
              </a:ext>
            </a:extLst>
          </p:cNvPr>
          <p:cNvSpPr>
            <a:spLocks xmlns:a="http://schemas.openxmlformats.org/drawingml/2006/main" noGrp="1"/>
          </p:cNvSpPr>
          <p:nvPr/>
        </p:nvSpPr>
        <p:spPr>
          <a:xfrm xmlns:a="http://schemas.openxmlformats.org/drawingml/2006/main">
            <a:off x="6248400" y="3829050"/>
            <a:ext cx="461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Assemble account context across collaboration threads and UI-only systems.</a:t>
            </a:r>
          </a:p>
        </p:txBody>
      </p:sp>
      <p:sp>
        <p:nvSpPr>
          <p:cNvPr id="22" name="">
            <a:extLst xmlns:a="http://schemas.openxmlformats.org/drawingml/2006/main">
              <a:ext uri="{FF2B5EF4-FFF2-40B4-BE49-F238E27FC236}">
                <a16:creationId xmlns:a16="http://schemas.microsoft.com/office/drawing/2014/main" id="{26674B3C-9666-430E-803A-7DAD73770EF3}"/>
              </a:ext>
            </a:extLst>
          </p:cNvPr>
          <p:cNvSpPr>
            <a:spLocks xmlns:a="http://schemas.openxmlformats.org/drawingml/2006/main" noGrp="1"/>
          </p:cNvSpPr>
          <p:nvPr/>
        </p:nvSpPr>
        <p:spPr>
          <a:xfrm xmlns:a="http://schemas.openxmlformats.org/drawingml/2006/main">
            <a:off x="742950" y="4476750"/>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1EA64862-22F2-47BA-A7F4-677923611572}"/>
              </a:ext>
            </a:extLst>
          </p:cNvPr>
          <p:cNvSpPr>
            <a:spLocks xmlns:a="http://schemas.openxmlformats.org/drawingml/2006/main" noGrp="1"/>
          </p:cNvSpPr>
          <p:nvPr/>
        </p:nvSpPr>
        <p:spPr>
          <a:xfrm xmlns:a="http://schemas.openxmlformats.org/drawingml/2006/main">
            <a:off x="914400" y="4648200"/>
            <a:ext cx="685800" cy="9525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solidFill>
              <a:srgbClr val="0F766E"/>
            </a:solidFill>
            <a:prstDash val="solid"/>
          </a:ln>
        </p:spPr>
      </p:sp>
      <p:sp>
        <p:nvSpPr>
          <p:cNvPr id="24" name="">
            <a:extLst xmlns:a="http://schemas.openxmlformats.org/drawingml/2006/main">
              <a:ext uri="{FF2B5EF4-FFF2-40B4-BE49-F238E27FC236}">
                <a16:creationId xmlns:a16="http://schemas.microsoft.com/office/drawing/2014/main" id="{1D4FC492-1F0E-4211-B110-AA8DF62D629C}"/>
              </a:ext>
            </a:extLst>
          </p:cNvPr>
          <p:cNvSpPr>
            <a:spLocks xmlns:a="http://schemas.openxmlformats.org/drawingml/2006/main" noGrp="1"/>
          </p:cNvSpPr>
          <p:nvPr/>
        </p:nvSpPr>
        <p:spPr>
          <a:xfrm xmlns:a="http://schemas.openxmlformats.org/drawingml/2006/main">
            <a:off x="914400" y="4857750"/>
            <a:ext cx="4610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Customer Voice</a:t>
            </a:r>
          </a:p>
        </p:txBody>
      </p:sp>
      <p:sp>
        <p:nvSpPr>
          <p:cNvPr id="25" name="">
            <a:extLst xmlns:a="http://schemas.openxmlformats.org/drawingml/2006/main">
              <a:ext uri="{FF2B5EF4-FFF2-40B4-BE49-F238E27FC236}">
                <a16:creationId xmlns:a16="http://schemas.microsoft.com/office/drawing/2014/main" id="{AC5335E2-D6F4-44FF-809A-4D95D6BDF946}"/>
              </a:ext>
            </a:extLst>
          </p:cNvPr>
          <p:cNvSpPr>
            <a:spLocks xmlns:a="http://schemas.openxmlformats.org/drawingml/2006/main" noGrp="1"/>
          </p:cNvSpPr>
          <p:nvPr/>
        </p:nvSpPr>
        <p:spPr>
          <a:xfrm xmlns:a="http://schemas.openxmlformats.org/drawingml/2006/main">
            <a:off x="914400" y="5353050"/>
            <a:ext cx="4610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Cluster feedback themes, quantify frequency, and package evidence for product review.</a:t>
            </a:r>
          </a:p>
        </p:txBody>
      </p:sp>
    </p:spTree>
    <p:extLst>
      <p:ext uri="{BB962C8B-B14F-4D97-AF65-F5344CB8AC3E}">
        <p14:creationId xmlns:p14="http://schemas.microsoft.com/office/powerpoint/2010/main" val="187126392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8E5250-4EA7-4723-AA17-2A5EE5700AB0}"/>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12BCAFA-97D0-4798-81EA-53CA49EF1E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 name="">
            <a:extLst xmlns:a="http://schemas.openxmlformats.org/drawingml/2006/main">
              <a:ext uri="{FF2B5EF4-FFF2-40B4-BE49-F238E27FC236}">
                <a16:creationId xmlns:a16="http://schemas.microsoft.com/office/drawing/2014/main" id="{D04C636F-7B24-46A7-A041-EC6B72BDA66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prstDash val="solid"/>
          </a:ln>
        </p:spPr>
      </p:sp>
      <p:sp>
        <p:nvSpPr>
          <p:cNvPr id="4" name="">
            <a:extLst xmlns:a="http://schemas.openxmlformats.org/drawingml/2006/main">
              <a:ext uri="{FF2B5EF4-FFF2-40B4-BE49-F238E27FC236}">
                <a16:creationId xmlns:a16="http://schemas.microsoft.com/office/drawing/2014/main" id="{A2CD305C-4116-4865-96CC-B9E3B11C7030}"/>
              </a:ext>
            </a:extLst>
          </p:cNvPr>
          <p:cNvSpPr>
            <a:spLocks xmlns:a="http://schemas.openxmlformats.org/drawingml/2006/main" noGrp="1"/>
          </p:cNvSpPr>
          <p:nvPr/>
        </p:nvSpPr>
        <p:spPr>
          <a:xfrm xmlns:a="http://schemas.openxmlformats.org/drawingml/2006/main">
            <a:off x="8858250" y="400050"/>
            <a:ext cx="2667000" cy="666750"/>
          </a:xfrm>
          <a:prstGeom xmlns:a="http://schemas.openxmlformats.org/drawingml/2006/main" prst="roundRect">
            <a:avLst>
              <a:gd name="adj" fmla="val 11429"/>
            </a:avLst>
          </a:prstGeom>
          <a:solidFill xmlns:a="http://schemas.openxmlformats.org/drawingml/2006/main">
            <a:srgbClr val="BE123C">
              <a:alpha val="8235"/>
            </a:srgbClr>
          </a:solidFill>
          <a:ln xmlns:a="http://schemas.openxmlformats.org/drawingml/2006/main" w="9525">
            <a:solidFill>
              <a:srgbClr val="BE123C">
                <a:alpha val="25098"/>
              </a:srgbClr>
            </a:solidFill>
            <a:prstDash val="solid"/>
          </a:ln>
        </p:spPr>
      </p:sp>
      <p:sp>
        <p:nvSpPr>
          <p:cNvPr id="5" name="">
            <a:extLst xmlns:a="http://schemas.openxmlformats.org/drawingml/2006/main">
              <a:ext uri="{FF2B5EF4-FFF2-40B4-BE49-F238E27FC236}">
                <a16:creationId xmlns:a16="http://schemas.microsoft.com/office/drawing/2014/main" id="{A60159C8-753D-4F31-865E-816DA539CA5E}"/>
              </a:ext>
            </a:extLst>
          </p:cNvPr>
          <p:cNvSpPr>
            <a:spLocks xmlns:a="http://schemas.openxmlformats.org/drawingml/2006/main" noGrp="1"/>
          </p:cNvSpPr>
          <p:nvPr/>
        </p:nvSpPr>
        <p:spPr>
          <a:xfrm xmlns:a="http://schemas.openxmlformats.org/drawingml/2006/main">
            <a:off x="742950" y="685800"/>
            <a:ext cx="7048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defRPr>
            </a:pPr>
            <a:r>
              <a:rPr sz="2250" b="1">
                <a:solidFill>
                  <a:srgbClr val="0F172A"/>
                </a:solidFill>
              </a:rPr>
              <a:t>Where computer-use matters</a:t>
            </a:r>
          </a:p>
        </p:txBody>
      </p:sp>
      <p:sp>
        <p:nvSpPr>
          <p:cNvPr id="6" name="">
            <a:extLst xmlns:a="http://schemas.openxmlformats.org/drawingml/2006/main">
              <a:ext uri="{FF2B5EF4-FFF2-40B4-BE49-F238E27FC236}">
                <a16:creationId xmlns:a16="http://schemas.microsoft.com/office/drawing/2014/main" id="{003B8995-8C81-42AA-BE3D-6DAF59BA6A9B}"/>
              </a:ext>
            </a:extLst>
          </p:cNvPr>
          <p:cNvSpPr>
            <a:spLocks xmlns:a="http://schemas.openxmlformats.org/drawingml/2006/main" noGrp="1"/>
          </p:cNvSpPr>
          <p:nvPr/>
        </p:nvSpPr>
        <p:spPr>
          <a:xfrm xmlns:a="http://schemas.openxmlformats.org/drawingml/2006/main">
            <a:off x="742950" y="1428750"/>
            <a:ext cx="3429000" cy="40005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A011D3D-66DC-436E-9659-617FBCBD8E3C}"/>
              </a:ext>
            </a:extLst>
          </p:cNvPr>
          <p:cNvSpPr>
            <a:spLocks xmlns:a="http://schemas.openxmlformats.org/drawingml/2006/main" noGrp="1"/>
          </p:cNvSpPr>
          <p:nvPr/>
        </p:nvSpPr>
        <p:spPr>
          <a:xfrm xmlns:a="http://schemas.openxmlformats.org/drawingml/2006/main">
            <a:off x="914400" y="1600200"/>
            <a:ext cx="685800" cy="95250"/>
          </a:xfrm>
          <a:prstGeom xmlns:a="http://schemas.openxmlformats.org/drawingml/2006/main" prst="roundRect">
            <a:avLst>
              <a:gd name="adj" fmla="val 50000"/>
            </a:avLst>
          </a:prstGeom>
          <a:solidFill xmlns:a="http://schemas.openxmlformats.org/drawingml/2006/main">
            <a:srgbClr val="BE123C"/>
          </a:solidFill>
          <a:ln xmlns:a="http://schemas.openxmlformats.org/drawingml/2006/main" w="0">
            <a:solidFill>
              <a:srgbClr val="BE123C"/>
            </a:solidFill>
            <a:prstDash val="solid"/>
          </a:ln>
        </p:spPr>
      </p:sp>
      <p:sp>
        <p:nvSpPr>
          <p:cNvPr id="8" name="">
            <a:extLst xmlns:a="http://schemas.openxmlformats.org/drawingml/2006/main">
              <a:ext uri="{FF2B5EF4-FFF2-40B4-BE49-F238E27FC236}">
                <a16:creationId xmlns:a16="http://schemas.microsoft.com/office/drawing/2014/main" id="{DB113B7D-EED1-4C8A-B518-20C6AA584DBE}"/>
              </a:ext>
            </a:extLst>
          </p:cNvPr>
          <p:cNvSpPr>
            <a:spLocks xmlns:a="http://schemas.openxmlformats.org/drawingml/2006/main" noGrp="1"/>
          </p:cNvSpPr>
          <p:nvPr/>
        </p:nvSpPr>
        <p:spPr>
          <a:xfrm xmlns:a="http://schemas.openxmlformats.org/drawingml/2006/main">
            <a:off x="914400" y="1809750"/>
            <a:ext cx="3086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Bridge missing integrations</a:t>
            </a:r>
          </a:p>
        </p:txBody>
      </p:sp>
      <p:sp>
        <p:nvSpPr>
          <p:cNvPr id="9" name="">
            <a:extLst xmlns:a="http://schemas.openxmlformats.org/drawingml/2006/main">
              <a:ext uri="{FF2B5EF4-FFF2-40B4-BE49-F238E27FC236}">
                <a16:creationId xmlns:a16="http://schemas.microsoft.com/office/drawing/2014/main" id="{FE3FECCF-248C-4865-92C9-F2C3EE09CBD7}"/>
              </a:ext>
            </a:extLst>
          </p:cNvPr>
          <p:cNvSpPr>
            <a:spLocks xmlns:a="http://schemas.openxmlformats.org/drawingml/2006/main" noGrp="1"/>
          </p:cNvSpPr>
          <p:nvPr/>
        </p:nvSpPr>
        <p:spPr>
          <a:xfrm xmlns:a="http://schemas.openxmlformats.org/drawingml/2006/main">
            <a:off x="914400" y="2305050"/>
            <a:ext cx="3086100" cy="2952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Use computer-use when the source of truth sits in a browser-only dashboard, CRM, admin console, or internal portal.</a:t>
            </a:r>
          </a:p>
        </p:txBody>
      </p:sp>
      <p:sp>
        <p:nvSpPr>
          <p:cNvPr id="10" name="">
            <a:extLst xmlns:a="http://schemas.openxmlformats.org/drawingml/2006/main">
              <a:ext uri="{FF2B5EF4-FFF2-40B4-BE49-F238E27FC236}">
                <a16:creationId xmlns:a16="http://schemas.microsoft.com/office/drawing/2014/main" id="{9B6E59CF-76F5-4579-910B-E54D1332D42F}"/>
              </a:ext>
            </a:extLst>
          </p:cNvPr>
          <p:cNvSpPr>
            <a:spLocks xmlns:a="http://schemas.openxmlformats.org/drawingml/2006/main" noGrp="1"/>
          </p:cNvSpPr>
          <p:nvPr/>
        </p:nvSpPr>
        <p:spPr>
          <a:xfrm xmlns:a="http://schemas.openxmlformats.org/drawingml/2006/main">
            <a:off x="4476750" y="1428750"/>
            <a:ext cx="3429000" cy="40005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FB4F882-F767-4CF1-8052-6EF2CD9D9218}"/>
              </a:ext>
            </a:extLst>
          </p:cNvPr>
          <p:cNvSpPr>
            <a:spLocks xmlns:a="http://schemas.openxmlformats.org/drawingml/2006/main" noGrp="1"/>
          </p:cNvSpPr>
          <p:nvPr/>
        </p:nvSpPr>
        <p:spPr>
          <a:xfrm xmlns:a="http://schemas.openxmlformats.org/drawingml/2006/main">
            <a:off x="4648200" y="1600200"/>
            <a:ext cx="685800" cy="952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12" name="">
            <a:extLst xmlns:a="http://schemas.openxmlformats.org/drawingml/2006/main">
              <a:ext uri="{FF2B5EF4-FFF2-40B4-BE49-F238E27FC236}">
                <a16:creationId xmlns:a16="http://schemas.microsoft.com/office/drawing/2014/main" id="{5D21FC23-F12D-4B8E-95D6-1B358721F38D}"/>
              </a:ext>
            </a:extLst>
          </p:cNvPr>
          <p:cNvSpPr>
            <a:spLocks xmlns:a="http://schemas.openxmlformats.org/drawingml/2006/main" noGrp="1"/>
          </p:cNvSpPr>
          <p:nvPr/>
        </p:nvSpPr>
        <p:spPr>
          <a:xfrm xmlns:a="http://schemas.openxmlformats.org/drawingml/2006/main">
            <a:off x="4648200" y="1809750"/>
            <a:ext cx="3086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Best-fit workflows</a:t>
            </a:r>
          </a:p>
        </p:txBody>
      </p:sp>
      <p:sp>
        <p:nvSpPr>
          <p:cNvPr id="13" name="">
            <a:extLst xmlns:a="http://schemas.openxmlformats.org/drawingml/2006/main">
              <a:ext uri="{FF2B5EF4-FFF2-40B4-BE49-F238E27FC236}">
                <a16:creationId xmlns:a16="http://schemas.microsoft.com/office/drawing/2014/main" id="{7C9B8042-F280-4CF9-940F-4B8BAF8C1B8A}"/>
              </a:ext>
            </a:extLst>
          </p:cNvPr>
          <p:cNvSpPr>
            <a:spLocks xmlns:a="http://schemas.openxmlformats.org/drawingml/2006/main" noGrp="1"/>
          </p:cNvSpPr>
          <p:nvPr/>
        </p:nvSpPr>
        <p:spPr>
          <a:xfrm xmlns:a="http://schemas.openxmlformats.org/drawingml/2006/main">
            <a:off x="4648200" y="2305050"/>
            <a:ext cx="3086100" cy="2952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Executive Briefing Machine for dashboard capture, Deal Desk Assistant for CRM and portal access, Chief of Staff for last-mile context retrieval.</a:t>
            </a:r>
          </a:p>
        </p:txBody>
      </p:sp>
      <p:sp>
        <p:nvSpPr>
          <p:cNvPr id="14" name="">
            <a:extLst xmlns:a="http://schemas.openxmlformats.org/drawingml/2006/main">
              <a:ext uri="{FF2B5EF4-FFF2-40B4-BE49-F238E27FC236}">
                <a16:creationId xmlns:a16="http://schemas.microsoft.com/office/drawing/2014/main" id="{506A7293-430E-43A4-B5C3-3B82D097C0CC}"/>
              </a:ext>
            </a:extLst>
          </p:cNvPr>
          <p:cNvSpPr>
            <a:spLocks xmlns:a="http://schemas.openxmlformats.org/drawingml/2006/main" noGrp="1"/>
          </p:cNvSpPr>
          <p:nvPr/>
        </p:nvSpPr>
        <p:spPr>
          <a:xfrm xmlns:a="http://schemas.openxmlformats.org/drawingml/2006/main">
            <a:off x="8210550" y="1428750"/>
            <a:ext cx="3238500" cy="4000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52BA83CE-C088-4FE8-BB3A-AA288CA3968A}"/>
              </a:ext>
            </a:extLst>
          </p:cNvPr>
          <p:cNvSpPr>
            <a:spLocks xmlns:a="http://schemas.openxmlformats.org/drawingml/2006/main" noGrp="1"/>
          </p:cNvSpPr>
          <p:nvPr/>
        </p:nvSpPr>
        <p:spPr>
          <a:xfrm xmlns:a="http://schemas.openxmlformats.org/drawingml/2006/main">
            <a:off x="8382000" y="1600200"/>
            <a:ext cx="685800" cy="952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6" name="">
            <a:extLst xmlns:a="http://schemas.openxmlformats.org/drawingml/2006/main">
              <a:ext uri="{FF2B5EF4-FFF2-40B4-BE49-F238E27FC236}">
                <a16:creationId xmlns:a16="http://schemas.microsoft.com/office/drawing/2014/main" id="{FDA231D3-53A7-4D68-90FA-B6D075A5C5E6}"/>
              </a:ext>
            </a:extLst>
          </p:cNvPr>
          <p:cNvSpPr>
            <a:spLocks xmlns:a="http://schemas.openxmlformats.org/drawingml/2006/main" noGrp="1"/>
          </p:cNvSpPr>
          <p:nvPr/>
        </p:nvSpPr>
        <p:spPr>
          <a:xfrm xmlns:a="http://schemas.openxmlformats.org/drawingml/2006/main">
            <a:off x="8382000" y="1809750"/>
            <a:ext cx="28956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Guardrail</a:t>
            </a:r>
          </a:p>
        </p:txBody>
      </p:sp>
      <p:sp>
        <p:nvSpPr>
          <p:cNvPr id="17" name="">
            <a:extLst xmlns:a="http://schemas.openxmlformats.org/drawingml/2006/main">
              <a:ext uri="{FF2B5EF4-FFF2-40B4-BE49-F238E27FC236}">
                <a16:creationId xmlns:a16="http://schemas.microsoft.com/office/drawing/2014/main" id="{13B5C392-F402-4C43-99D0-18EF1405F100}"/>
              </a:ext>
            </a:extLst>
          </p:cNvPr>
          <p:cNvSpPr>
            <a:spLocks xmlns:a="http://schemas.openxmlformats.org/drawingml/2006/main" noGrp="1"/>
          </p:cNvSpPr>
          <p:nvPr/>
        </p:nvSpPr>
        <p:spPr>
          <a:xfrm xmlns:a="http://schemas.openxmlformats.org/drawingml/2006/main">
            <a:off x="8382000" y="2305050"/>
            <a:ext cx="2895600" cy="2952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Use it as a strategic bridge, not the default path for every task. Lead with connectors when they exist and fall back to UI operation when they do not.</a:t>
            </a:r>
          </a:p>
        </p:txBody>
      </p:sp>
    </p:spTree>
    <p:extLst>
      <p:ext uri="{BB962C8B-B14F-4D97-AF65-F5344CB8AC3E}">
        <p14:creationId xmlns:p14="http://schemas.microsoft.com/office/powerpoint/2010/main" val="84583882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8E5250-4EA7-4723-AA17-2A5EE5700AB0}"/>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207D4A0-B51D-4C83-B8F3-EE9E12FC5A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 name="">
            <a:extLst xmlns:a="http://schemas.openxmlformats.org/drawingml/2006/main">
              <a:ext uri="{FF2B5EF4-FFF2-40B4-BE49-F238E27FC236}">
                <a16:creationId xmlns:a16="http://schemas.microsoft.com/office/drawing/2014/main" id="{24AD658C-3E6A-44F9-8ED6-14647D9C6FB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4" name="">
            <a:extLst xmlns:a="http://schemas.openxmlformats.org/drawingml/2006/main">
              <a:ext uri="{FF2B5EF4-FFF2-40B4-BE49-F238E27FC236}">
                <a16:creationId xmlns:a16="http://schemas.microsoft.com/office/drawing/2014/main" id="{78DDB0D8-ABF9-423F-A97D-A16A184ECF45}"/>
              </a:ext>
            </a:extLst>
          </p:cNvPr>
          <p:cNvSpPr>
            <a:spLocks xmlns:a="http://schemas.openxmlformats.org/drawingml/2006/main" noGrp="1"/>
          </p:cNvSpPr>
          <p:nvPr/>
        </p:nvSpPr>
        <p:spPr>
          <a:xfrm xmlns:a="http://schemas.openxmlformats.org/drawingml/2006/main">
            <a:off x="8858250" y="400050"/>
            <a:ext cx="2667000" cy="666750"/>
          </a:xfrm>
          <a:prstGeom xmlns:a="http://schemas.openxmlformats.org/drawingml/2006/main" prst="roundRect">
            <a:avLst>
              <a:gd name="adj" fmla="val 11429"/>
            </a:avLst>
          </a:prstGeom>
          <a:solidFill xmlns:a="http://schemas.openxmlformats.org/drawingml/2006/main">
            <a:srgbClr val="0F766E">
              <a:alpha val="8235"/>
            </a:srgbClr>
          </a:solidFill>
          <a:ln xmlns:a="http://schemas.openxmlformats.org/drawingml/2006/main" w="9525">
            <a:solidFill>
              <a:srgbClr val="0F766E">
                <a:alpha val="25098"/>
              </a:srgbClr>
            </a:solidFill>
            <a:prstDash val="solid"/>
          </a:ln>
        </p:spPr>
      </p:sp>
      <p:sp>
        <p:nvSpPr>
          <p:cNvPr id="5" name="">
            <a:extLst xmlns:a="http://schemas.openxmlformats.org/drawingml/2006/main">
              <a:ext uri="{FF2B5EF4-FFF2-40B4-BE49-F238E27FC236}">
                <a16:creationId xmlns:a16="http://schemas.microsoft.com/office/drawing/2014/main" id="{CF59C27C-4965-45AA-A092-E2252AA39B27}"/>
              </a:ext>
            </a:extLst>
          </p:cNvPr>
          <p:cNvSpPr>
            <a:spLocks xmlns:a="http://schemas.openxmlformats.org/drawingml/2006/main" noGrp="1"/>
          </p:cNvSpPr>
          <p:nvPr/>
        </p:nvSpPr>
        <p:spPr>
          <a:xfrm xmlns:a="http://schemas.openxmlformats.org/drawingml/2006/main">
            <a:off x="742950" y="685800"/>
            <a:ext cx="8001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defRPr>
            </a:pPr>
            <a:r>
              <a:rPr sz="2250" b="1">
                <a:solidFill>
                  <a:srgbClr val="0F172A"/>
                </a:solidFill>
              </a:rPr>
              <a:t>Recommended demo sequence</a:t>
            </a:r>
          </a:p>
        </p:txBody>
      </p:sp>
      <p:sp>
        <p:nvSpPr>
          <p:cNvPr id="6" name="">
            <a:extLst xmlns:a="http://schemas.openxmlformats.org/drawingml/2006/main">
              <a:ext uri="{FF2B5EF4-FFF2-40B4-BE49-F238E27FC236}">
                <a16:creationId xmlns:a16="http://schemas.microsoft.com/office/drawing/2014/main" id="{FDE47226-95DB-4127-BBF0-321D05684ADC}"/>
              </a:ext>
            </a:extLst>
          </p:cNvPr>
          <p:cNvSpPr>
            <a:spLocks xmlns:a="http://schemas.openxmlformats.org/drawingml/2006/main" noGrp="1"/>
          </p:cNvSpPr>
          <p:nvPr/>
        </p:nvSpPr>
        <p:spPr>
          <a:xfrm xmlns:a="http://schemas.openxmlformats.org/drawingml/2006/main">
            <a:off x="742950" y="1524000"/>
            <a:ext cx="5334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EA5D6CFB-C900-45CE-8080-03443EEBFC4D}"/>
              </a:ext>
            </a:extLst>
          </p:cNvPr>
          <p:cNvSpPr>
            <a:spLocks xmlns:a="http://schemas.openxmlformats.org/drawingml/2006/main" noGrp="1"/>
          </p:cNvSpPr>
          <p:nvPr/>
        </p:nvSpPr>
        <p:spPr>
          <a:xfrm xmlns:a="http://schemas.openxmlformats.org/drawingml/2006/main">
            <a:off x="914400" y="1695450"/>
            <a:ext cx="685800" cy="9525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solidFill>
              <a:srgbClr val="0F766E"/>
            </a:solidFill>
            <a:prstDash val="solid"/>
          </a:ln>
        </p:spPr>
      </p:sp>
      <p:sp>
        <p:nvSpPr>
          <p:cNvPr id="8" name="">
            <a:extLst xmlns:a="http://schemas.openxmlformats.org/drawingml/2006/main">
              <a:ext uri="{FF2B5EF4-FFF2-40B4-BE49-F238E27FC236}">
                <a16:creationId xmlns:a16="http://schemas.microsoft.com/office/drawing/2014/main" id="{F34A6C31-7CB3-4931-B3E4-D002CD1ACF65}"/>
              </a:ext>
            </a:extLst>
          </p:cNvPr>
          <p:cNvSpPr>
            <a:spLocks xmlns:a="http://schemas.openxmlformats.org/drawingml/2006/main" noGrp="1"/>
          </p:cNvSpPr>
          <p:nvPr/>
        </p:nvSpPr>
        <p:spPr>
          <a:xfrm xmlns:a="http://schemas.openxmlformats.org/drawingml/2006/main">
            <a:off x="914400" y="19050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Flow</a:t>
            </a:r>
          </a:p>
        </p:txBody>
      </p:sp>
      <p:sp>
        <p:nvSpPr>
          <p:cNvPr id="9" name="">
            <a:extLst xmlns:a="http://schemas.openxmlformats.org/drawingml/2006/main">
              <a:ext uri="{FF2B5EF4-FFF2-40B4-BE49-F238E27FC236}">
                <a16:creationId xmlns:a16="http://schemas.microsoft.com/office/drawing/2014/main" id="{FF22B06A-DEFC-4677-B410-BC3AD4BC8B0D}"/>
              </a:ext>
            </a:extLst>
          </p:cNvPr>
          <p:cNvSpPr>
            <a:spLocks xmlns:a="http://schemas.openxmlformats.org/drawingml/2006/main" noGrp="1"/>
          </p:cNvSpPr>
          <p:nvPr/>
        </p:nvSpPr>
        <p:spPr>
          <a:xfrm xmlns:a="http://schemas.openxmlformats.org/drawingml/2006/main">
            <a:off x="914400" y="2400300"/>
            <a:ext cx="4991100" cy="2381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1. Start with a business question, not a feature list.</a:t>
            </a:r>
          </a:p>
          <a:p xmlns:a="http://schemas.openxmlformats.org/drawingml/2006/main">
            <a:pPr algn="l">
              <a:defRPr sz="1200" b="0">
                <a:solidFill>
                  <a:srgbClr val="334155"/>
                </a:solidFill>
              </a:defRPr>
            </a:pPr>
            <a:r>
              <a:rPr sz="1200" b="0">
                <a:solidFill>
                  <a:srgbClr val="334155"/>
                </a:solidFill>
              </a:rPr>
              <a:t>2. Pull live context from collaboration tools and local files.</a:t>
            </a:r>
          </a:p>
          <a:p xmlns:a="http://schemas.openxmlformats.org/drawingml/2006/main">
            <a:pPr algn="l">
              <a:defRPr sz="1200" b="0">
                <a:solidFill>
                  <a:srgbClr val="334155"/>
                </a:solidFill>
              </a:defRPr>
            </a:pPr>
            <a:r>
              <a:rPr sz="1200" b="0">
                <a:solidFill>
                  <a:srgbClr val="334155"/>
                </a:solidFill>
              </a:rPr>
              <a:t>3. Use computer-use for one missing dashboard or portal input.</a:t>
            </a:r>
          </a:p>
          <a:p xmlns:a="http://schemas.openxmlformats.org/drawingml/2006/main">
            <a:pPr algn="l">
              <a:defRPr sz="1200" b="0">
                <a:solidFill>
                  <a:srgbClr val="334155"/>
                </a:solidFill>
              </a:defRPr>
            </a:pPr>
            <a:r>
              <a:rPr sz="1200" b="0">
                <a:solidFill>
                  <a:srgbClr val="334155"/>
                </a:solidFill>
              </a:rPr>
              <a:t>4. Show the recurring automation path.</a:t>
            </a:r>
          </a:p>
          <a:p xmlns:a="http://schemas.openxmlformats.org/drawingml/2006/main">
            <a:pPr algn="l">
              <a:defRPr sz="1200" b="0">
                <a:solidFill>
                  <a:srgbClr val="334155"/>
                </a:solidFill>
              </a:defRPr>
            </a:pPr>
            <a:r>
              <a:rPr sz="1200" b="0">
                <a:solidFill>
                  <a:srgbClr val="334155"/>
                </a:solidFill>
              </a:rPr>
              <a:t>5. Finish with editable Excel and PowerPoint outputs.</a:t>
            </a:r>
          </a:p>
        </p:txBody>
      </p:sp>
      <p:sp>
        <p:nvSpPr>
          <p:cNvPr id="10" name="">
            <a:extLst xmlns:a="http://schemas.openxmlformats.org/drawingml/2006/main">
              <a:ext uri="{FF2B5EF4-FFF2-40B4-BE49-F238E27FC236}">
                <a16:creationId xmlns:a16="http://schemas.microsoft.com/office/drawing/2014/main" id="{5AC628A5-7A72-4799-8841-1ED23389DB17}"/>
              </a:ext>
            </a:extLst>
          </p:cNvPr>
          <p:cNvSpPr>
            <a:spLocks xmlns:a="http://schemas.openxmlformats.org/drawingml/2006/main" noGrp="1"/>
          </p:cNvSpPr>
          <p:nvPr/>
        </p:nvSpPr>
        <p:spPr>
          <a:xfrm xmlns:a="http://schemas.openxmlformats.org/drawingml/2006/main">
            <a:off x="6477000" y="1524000"/>
            <a:ext cx="497205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7498A5E4-0995-404B-9362-2593D379E604}"/>
              </a:ext>
            </a:extLst>
          </p:cNvPr>
          <p:cNvSpPr>
            <a:spLocks xmlns:a="http://schemas.openxmlformats.org/drawingml/2006/main" noGrp="1"/>
          </p:cNvSpPr>
          <p:nvPr/>
        </p:nvSpPr>
        <p:spPr>
          <a:xfrm xmlns:a="http://schemas.openxmlformats.org/drawingml/2006/main">
            <a:off x="6648450" y="1695450"/>
            <a:ext cx="685800" cy="952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2241432E-4823-4B03-84B9-72C9ABE142BE}"/>
              </a:ext>
            </a:extLst>
          </p:cNvPr>
          <p:cNvSpPr>
            <a:spLocks xmlns:a="http://schemas.openxmlformats.org/drawingml/2006/main" noGrp="1"/>
          </p:cNvSpPr>
          <p:nvPr/>
        </p:nvSpPr>
        <p:spPr>
          <a:xfrm xmlns:a="http://schemas.openxmlformats.org/drawingml/2006/main">
            <a:off x="6648450" y="1905000"/>
            <a:ext cx="46291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Success bar</a:t>
            </a:r>
          </a:p>
        </p:txBody>
      </p:sp>
      <p:sp>
        <p:nvSpPr>
          <p:cNvPr id="13" name="">
            <a:extLst xmlns:a="http://schemas.openxmlformats.org/drawingml/2006/main">
              <a:ext uri="{FF2B5EF4-FFF2-40B4-BE49-F238E27FC236}">
                <a16:creationId xmlns:a16="http://schemas.microsoft.com/office/drawing/2014/main" id="{3D93B9FC-079C-4172-823B-512C4B4E3EC3}"/>
              </a:ext>
            </a:extLst>
          </p:cNvPr>
          <p:cNvSpPr>
            <a:spLocks xmlns:a="http://schemas.openxmlformats.org/drawingml/2006/main" noGrp="1"/>
          </p:cNvSpPr>
          <p:nvPr/>
        </p:nvSpPr>
        <p:spPr>
          <a:xfrm xmlns:a="http://schemas.openxmlformats.org/drawingml/2006/main">
            <a:off x="6648450" y="2400300"/>
            <a:ext cx="4629150" cy="2381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The audience should see live context, a real integration gap solved through computer-use, a recurring rerun path, and outputs that are immediately usable without major cleanup.</a:t>
            </a:r>
          </a:p>
        </p:txBody>
      </p:sp>
    </p:spTree>
    <p:extLst>
      <p:ext uri="{BB962C8B-B14F-4D97-AF65-F5344CB8AC3E}">
        <p14:creationId xmlns:p14="http://schemas.microsoft.com/office/powerpoint/2010/main" val="14484070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108E5250-4EA7-4723-AA17-2A5EE5700AB0}"/>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2F7F90B-F0D8-4790-A073-87C4307429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 name="">
            <a:extLst xmlns:a="http://schemas.openxmlformats.org/drawingml/2006/main">
              <a:ext uri="{FF2B5EF4-FFF2-40B4-BE49-F238E27FC236}">
                <a16:creationId xmlns:a16="http://schemas.microsoft.com/office/drawing/2014/main" id="{1DB1AFB8-1C88-4F18-8A80-2CC61195C25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4" name="">
            <a:extLst xmlns:a="http://schemas.openxmlformats.org/drawingml/2006/main">
              <a:ext uri="{FF2B5EF4-FFF2-40B4-BE49-F238E27FC236}">
                <a16:creationId xmlns:a16="http://schemas.microsoft.com/office/drawing/2014/main" id="{F3FD1512-6BC4-4B17-8BC8-06C326124E29}"/>
              </a:ext>
            </a:extLst>
          </p:cNvPr>
          <p:cNvSpPr>
            <a:spLocks xmlns:a="http://schemas.openxmlformats.org/drawingml/2006/main" noGrp="1"/>
          </p:cNvSpPr>
          <p:nvPr/>
        </p:nvSpPr>
        <p:spPr>
          <a:xfrm xmlns:a="http://schemas.openxmlformats.org/drawingml/2006/main">
            <a:off x="8858250" y="400050"/>
            <a:ext cx="2667000" cy="666750"/>
          </a:xfrm>
          <a:prstGeom xmlns:a="http://schemas.openxmlformats.org/drawingml/2006/main" prst="roundRect">
            <a:avLst>
              <a:gd name="adj" fmla="val 11429"/>
            </a:avLst>
          </a:prstGeom>
          <a:solidFill xmlns:a="http://schemas.openxmlformats.org/drawingml/2006/main">
            <a:srgbClr val="D97706">
              <a:alpha val="8235"/>
            </a:srgbClr>
          </a:solidFill>
          <a:ln xmlns:a="http://schemas.openxmlformats.org/drawingml/2006/main" w="9525">
            <a:solidFill>
              <a:srgbClr val="D97706">
                <a:alpha val="25098"/>
              </a:srgbClr>
            </a:solidFill>
            <a:prstDash val="solid"/>
          </a:ln>
        </p:spPr>
      </p:sp>
      <p:sp>
        <p:nvSpPr>
          <p:cNvPr id="5" name="">
            <a:extLst xmlns:a="http://schemas.openxmlformats.org/drawingml/2006/main">
              <a:ext uri="{FF2B5EF4-FFF2-40B4-BE49-F238E27FC236}">
                <a16:creationId xmlns:a16="http://schemas.microsoft.com/office/drawing/2014/main" id="{682F7730-A69B-45C3-B9B7-AF75698CA38B}"/>
              </a:ext>
            </a:extLst>
          </p:cNvPr>
          <p:cNvSpPr>
            <a:spLocks xmlns:a="http://schemas.openxmlformats.org/drawingml/2006/main" noGrp="1"/>
          </p:cNvSpPr>
          <p:nvPr/>
        </p:nvSpPr>
        <p:spPr>
          <a:xfrm xmlns:a="http://schemas.openxmlformats.org/drawingml/2006/main">
            <a:off x="742950" y="952500"/>
            <a:ext cx="7239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F172A"/>
                </a:solidFill>
              </a:defRPr>
            </a:pPr>
            <a:r>
              <a:rPr sz="2550" b="1">
                <a:solidFill>
                  <a:srgbClr val="0F172A"/>
                </a:solidFill>
              </a:rPr>
              <a:t>Build the operator, not another summarizer</a:t>
            </a:r>
          </a:p>
        </p:txBody>
      </p:sp>
      <p:sp>
        <p:nvSpPr>
          <p:cNvPr id="6" name="">
            <a:extLst xmlns:a="http://schemas.openxmlformats.org/drawingml/2006/main">
              <a:ext uri="{FF2B5EF4-FFF2-40B4-BE49-F238E27FC236}">
                <a16:creationId xmlns:a16="http://schemas.microsoft.com/office/drawing/2014/main" id="{578EB2BB-068F-4D4B-83B7-94733DE44F92}"/>
              </a:ext>
            </a:extLst>
          </p:cNvPr>
          <p:cNvSpPr>
            <a:spLocks xmlns:a="http://schemas.openxmlformats.org/drawingml/2006/main" noGrp="1"/>
          </p:cNvSpPr>
          <p:nvPr/>
        </p:nvSpPr>
        <p:spPr>
          <a:xfrm xmlns:a="http://schemas.openxmlformats.org/drawingml/2006/main">
            <a:off x="742950" y="1714500"/>
            <a:ext cx="8191500" cy="1714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334155"/>
                </a:solidFill>
              </a:defRPr>
            </a:pPr>
            <a:r>
              <a:rPr sz="1800" b="0">
                <a:solidFill>
                  <a:srgbClr val="334155"/>
                </a:solidFill>
              </a:rPr>
              <a:t>The strongest go-to-market story is recurring business workflows that collect context, operate missing systems, follow up later, and land in editable office artifacts.</a:t>
            </a:r>
          </a:p>
        </p:txBody>
      </p:sp>
      <p:sp>
        <p:nvSpPr>
          <p:cNvPr id="7" name="">
            <a:extLst xmlns:a="http://schemas.openxmlformats.org/drawingml/2006/main">
              <a:ext uri="{FF2B5EF4-FFF2-40B4-BE49-F238E27FC236}">
                <a16:creationId xmlns:a16="http://schemas.microsoft.com/office/drawing/2014/main" id="{CD24BEC5-9447-4789-8D73-DC1F04446363}"/>
              </a:ext>
            </a:extLst>
          </p:cNvPr>
          <p:cNvSpPr>
            <a:spLocks xmlns:a="http://schemas.openxmlformats.org/drawingml/2006/main" noGrp="1"/>
          </p:cNvSpPr>
          <p:nvPr/>
        </p:nvSpPr>
        <p:spPr>
          <a:xfrm xmlns:a="http://schemas.openxmlformats.org/drawingml/2006/main">
            <a:off x="742950" y="3714750"/>
            <a:ext cx="1070610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BB98B022-77AD-4B81-8C71-EDF091443209}"/>
              </a:ext>
            </a:extLst>
          </p:cNvPr>
          <p:cNvSpPr>
            <a:spLocks xmlns:a="http://schemas.openxmlformats.org/drawingml/2006/main" noGrp="1"/>
          </p:cNvSpPr>
          <p:nvPr/>
        </p:nvSpPr>
        <p:spPr>
          <a:xfrm xmlns:a="http://schemas.openxmlformats.org/drawingml/2006/main">
            <a:off x="914400" y="3886200"/>
            <a:ext cx="685800" cy="95250"/>
          </a:xfrm>
          <a:prstGeom xmlns:a="http://schemas.openxmlformats.org/drawingml/2006/main" prst="roundRect">
            <a:avLst>
              <a:gd name="adj" fmla="val 50000"/>
            </a:avLst>
          </a:prstGeom>
          <a:solidFill xmlns:a="http://schemas.openxmlformats.org/drawingml/2006/main">
            <a:srgbClr val="BE123C"/>
          </a:solidFill>
          <a:ln xmlns:a="http://schemas.openxmlformats.org/drawingml/2006/main" w="0">
            <a:solidFill>
              <a:srgbClr val="BE123C"/>
            </a:solidFill>
            <a:prstDash val="solid"/>
          </a:ln>
        </p:spPr>
      </p:sp>
      <p:sp>
        <p:nvSpPr>
          <p:cNvPr id="9" name="">
            <a:extLst xmlns:a="http://schemas.openxmlformats.org/drawingml/2006/main">
              <a:ext uri="{FF2B5EF4-FFF2-40B4-BE49-F238E27FC236}">
                <a16:creationId xmlns:a16="http://schemas.microsoft.com/office/drawing/2014/main" id="{9D4C76A4-3A17-4E95-AC10-7B87F7A9525F}"/>
              </a:ext>
            </a:extLst>
          </p:cNvPr>
          <p:cNvSpPr>
            <a:spLocks xmlns:a="http://schemas.openxmlformats.org/drawingml/2006/main" noGrp="1"/>
          </p:cNvSpPr>
          <p:nvPr/>
        </p:nvSpPr>
        <p:spPr>
          <a:xfrm xmlns:a="http://schemas.openxmlformats.org/drawingml/2006/main">
            <a:off x="914400" y="4095750"/>
            <a:ext cx="10363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defRPr>
            </a:pPr>
            <a:r>
              <a:rPr sz="1800" b="1">
                <a:solidFill>
                  <a:srgbClr val="0F172A"/>
                </a:solidFill>
              </a:rPr>
              <a:t>Next action</a:t>
            </a:r>
          </a:p>
        </p:txBody>
      </p:sp>
      <p:sp>
        <p:nvSpPr>
          <p:cNvPr id="10" name="">
            <a:extLst xmlns:a="http://schemas.openxmlformats.org/drawingml/2006/main">
              <a:ext uri="{FF2B5EF4-FFF2-40B4-BE49-F238E27FC236}">
                <a16:creationId xmlns:a16="http://schemas.microsoft.com/office/drawing/2014/main" id="{12BB4282-3EDC-463A-855B-55D0EE8A7945}"/>
              </a:ext>
            </a:extLst>
          </p:cNvPr>
          <p:cNvSpPr>
            <a:spLocks xmlns:a="http://schemas.openxmlformats.org/drawingml/2006/main" noGrp="1"/>
          </p:cNvSpPr>
          <p:nvPr/>
        </p:nvSpPr>
        <p:spPr>
          <a:xfrm xmlns:a="http://schemas.openxmlformats.org/drawingml/2006/main">
            <a:off x="914400" y="4591050"/>
            <a:ext cx="103632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34155"/>
                </a:solidFill>
              </a:defRPr>
            </a:pPr>
            <a:r>
              <a:rPr sz="1200" b="0">
                <a:solidFill>
                  <a:srgbClr val="334155"/>
                </a:solidFill>
              </a:rPr>
              <a:t>Lead with Personal Chief of Staff and Daily Leadership Digest, use Executive Briefing Machine as the flagship demo, and expand into Deal Desk and Customer Voice once the core wedge is proven.</a:t>
            </a:r>
          </a:p>
        </p:txBody>
      </p:sp>
    </p:spTree>
    <p:extLst>
      <p:ext uri="{BB962C8B-B14F-4D97-AF65-F5344CB8AC3E}">
        <p14:creationId xmlns:p14="http://schemas.microsoft.com/office/powerpoint/2010/main" val="934502310"/>
      </p:ext>
    </p:extLst>
  </p:cSld>
</p:sld>
</file>

<file path=ppt/theme/theme1.xml><?xml version="1.0" encoding="utf-8"?>
<a:theme xmlns:a="http://schemas.openxmlformats.org/drawingml/2006/main" name="Codex Strategy">
  <a:themeElements>
    <a:clrScheme name="Codex Strategy">
      <a:accent1>
        <a:srgbClr val="2563EB"/>
      </a:accent1>
      <a:accent2>
        <a:srgbClr val="0F766E"/>
      </a:accent2>
      <a:accent3>
        <a:srgbClr val="D97706"/>
      </a:accent3>
    </a:clrScheme>
    <a:fontScheme name="Office">
      <a:majorFont>
        <a:latin typeface="Calibri Light"/>
        <a:ea typeface="Calibri Light"/>
        <a:cs typeface="Calibri Light"/>
      </a:majorFont>
      <a:minorFont>
        <a:latin typeface="Calibri"/>
        <a:ea typeface="Calibri"/>
        <a:cs typeface="Calibri"/>
      </a:minorFont>
    </a:fontScheme>
    <a:fmtScheme name="Codex Strategy">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2026-04-17T14:51:32.1520000Z</dcterms:created>
  <dcterms:modified xsi:type="dcterms:W3CDTF">2026-04-17T14:51:32.1520000Z</dcterms:modified>
</coreProperties>
</file>