
<file path=[Content_Types].xml><?xml version="1.0" encoding="utf-8"?>
<Types xmlns="http://schemas.openxmlformats.org/package/2006/content-types">
  <Default Extension="xml" ContentType="application/vnd.openxmlformats-package.core-properties+xml"/>
  <Default Extension="rels" ContentType="application/vnd.openxmlformats-package.relationships+xml"/>
  <Override PartName="/docProps/app.xml" ContentType="application/vnd.openxmlformats-officedocument.extended-properties+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notesMasters/notesMaster1.xml" ContentType="application/vnd.openxmlformats-officedocument.presentationml.notesMaster+xml"/>
  <Override PartName="/ppt/notesMasters/theme/theme2.xml" ContentType="application/vnd.openxmlformats-officedocument.them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ableStyles.xml" ContentType="application/vnd.openxmlformats-officedocument.presentationml.tableStyles+xml"/>
  <Override PartName="/ppt/slideLayouts/slideLayout2.xml" ContentType="application/vnd.openxmlformats-officedocument.presentationml.slideLayout+xml"/>
  <Override PartName="/ppt/slides/slide1.xml" ContentType="application/vnd.openxmlformats-officedocument.presentationml.slide+xml"/>
  <Override PartName="/ppt/notesSlides/notesSlide1.xml" ContentType="application/vnd.openxmlformats-officedocument.presentationml.notesSlide+xml"/>
  <Override PartName="/ppt/slides/slide2.xml" ContentType="application/vnd.openxmlformats-officedocument.presentationml.slide+xml"/>
  <Override PartName="/ppt/notesSlides/notesSlide2.xml" ContentType="application/vnd.openxmlformats-officedocument.presentationml.notesSlide+xml"/>
  <Override PartName="/ppt/slides/slide3.xml" ContentType="application/vnd.openxmlformats-officedocument.presentationml.slide+xml"/>
  <Override PartName="/ppt/slides/charts/chart1.xml" ContentType="application/vnd.openxmlformats-officedocument.drawingml.chart+xml"/>
  <Override PartName="/ppt/notesSlides/notesSlide3.xml" ContentType="application/vnd.openxmlformats-officedocument.presentationml.notesSlide+xml"/>
  <Override PartName="/ppt/slides/slide4.xml" ContentType="application/vnd.openxmlformats-officedocument.presentationml.slide+xml"/>
  <Override PartName="/ppt/notesSlides/notesSlide4.xml" ContentType="application/vnd.openxmlformats-officedocument.presentationml.notesSlide+xml"/>
  <Override PartName="/ppt/slides/slide5.xml" ContentType="application/vnd.openxmlformats-officedocument.presentationml.slide+xml"/>
  <Override PartName="/ppt/notesSlides/notesSlide5.xml" ContentType="application/vnd.openxmlformats-officedocument.presentationml.notesSlide+xml"/>
</Types>
</file>

<file path=_rels/.rels>&#65279;<?xml version="1.0" encoding="utf-8"?><Relationships xmlns="http://schemas.openxmlformats.org/package/2006/relationships"><Relationship Type="http://schemas.openxmlformats.org/package/2006/relationships/metadata/core-properties" Target="/docProps/core.xml" Id="R56536c0c57dc4634" /><Relationship Type="http://schemas.openxmlformats.org/officeDocument/2006/relationships/extended-properties" Target="/docProps/app.xml" Id="R2f5e30a336ec44ba" /><Relationship Type="http://schemas.openxmlformats.org/officeDocument/2006/relationships/officeDocument" Target="/ppt/presentation.xml" Id="R77f62d72e88f4364" /></Relationships>
</file>

<file path=ppt/presentation.xml><?xml version="1.0" encoding="utf-8"?>
<p:presentation xmlns:p="http://schemas.openxmlformats.org/presentationml/2006/main">
  <p:sldMasterIdLst>
    <p:sldMasterId xmlns:r="http://schemas.openxmlformats.org/officeDocument/2006/relationships" id="2147483648" r:id="Raa382a26039643e7"/>
  </p:sldMasterIdLst>
  <p:notesMasterIdLst>
    <p:notesMasterId xmlns:r="http://schemas.openxmlformats.org/officeDocument/2006/relationships" r:id="R601971fe2c7944ae"/>
  </p:notesMasterIdLst>
  <p:sldIdLst>
    <p:sldId xmlns:r="http://schemas.openxmlformats.org/officeDocument/2006/relationships" id="256" r:id="R1cf1ed61b2684339"/>
    <p:sldId xmlns:r="http://schemas.openxmlformats.org/officeDocument/2006/relationships" id="257" r:id="R7507bc7f04cb4a11"/>
    <p:sldId xmlns:r="http://schemas.openxmlformats.org/officeDocument/2006/relationships" id="258" r:id="R341532d5546c4f1a"/>
    <p:sldId xmlns:r="http://schemas.openxmlformats.org/officeDocument/2006/relationships" id="259" r:id="Ra5ba41cc9ba84407"/>
    <p:sldId xmlns:r="http://schemas.openxmlformats.org/officeDocument/2006/relationships" id="260" r:id="Rd4cdfb3e36aa4181"/>
  </p:sldIdLst>
  <p:sldSz cx="12192000" cy="6858000"/>
  <p:notesSz cx="6858000" cy="9144000"/>
  <p:defaultTextStyle>
    <a:defPPr xmlns:a="http://schemas.openxmlformats.org/drawingml/2006/main">
      <a:defRPr lang="en-US"/>
    </a:defPPr>
    <a:lvl1pPr xmlns:a="http://schemas.openxmlformats.org/drawingml/2006/main" marL="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1pPr>
    <a:lvl2pPr xmlns:a="http://schemas.openxmlformats.org/drawingml/2006/main" marL="4572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2pPr>
    <a:lvl3pPr xmlns:a="http://schemas.openxmlformats.org/drawingml/2006/main" marL="9144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3pPr>
    <a:lvl4pPr xmlns:a="http://schemas.openxmlformats.org/drawingml/2006/main" marL="13716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4pPr>
    <a:lvl5pPr xmlns:a="http://schemas.openxmlformats.org/drawingml/2006/main" marL="18288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5pPr>
    <a:lvl6pPr xmlns:a="http://schemas.openxmlformats.org/drawingml/2006/main" marL="22860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6pPr>
    <a:lvl7pPr xmlns:a="http://schemas.openxmlformats.org/drawingml/2006/main" marL="27432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7pPr>
    <a:lvl8pPr xmlns:a="http://schemas.openxmlformats.org/drawingml/2006/main" marL="32004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8pPr>
    <a:lvl9pPr xmlns:a="http://schemas.openxmlformats.org/drawingml/2006/main" marL="36576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p="http://schemas.openxmlformats.org/presentationml/2006/main">
  <p:extLst>
    <p:ext xmlns:p14="http://schemas.microsoft.com/office/powerpoint/2010/main" uri="{E76CE94A-603C-4142-B9EB-6D1370010A27}">
      <p14:discardImageEditData val="0"/>
    </p:ext>
    <p:ext xmlns:p14="http://schemas.microsoft.com/office/powerpoint/2010/main" uri="{D31A062A-798A-4329-ABDD-BBA856620510}">
      <p14:defaultImageDpi val="32767"/>
    </p:ext>
    <p:ext xmlns:p15="http://schemas.microsoft.com/office/powerpoint/2012/main" uri="{FD5EFAAD-0ECE-453E-9831-46B23BE46B34}">
      <p15:chartTrackingRefBased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p="http://schemas.openxmlformats.org/presentationml/2006/main">
  <p:normalViewPr>
    <p:restoredLeft sz="15611"/>
    <p:restoredTop sz="94658"/>
  </p:normalViewPr>
  <p:slideViewPr>
    <p:cSldViewPr snapToGrid="0">
      <p:cViewPr varScale="1">
        <p:scale>
          <a:sx xmlns:a="http://schemas.openxmlformats.org/drawingml/2006/main" n="120" d="100"/>
          <a:sy xmlns:a="http://schemas.openxmlformats.org/drawingml/2006/main" n="120" d="100"/>
        </p:scale>
        <p:origin x="800" y="184"/>
      </p:cViewPr>
      <p:guideLst/>
    </p:cSldViewPr>
  </p:slideViewPr>
  <p:notesTextViewPr>
    <p:cViewPr>
      <p:scale>
        <a:sx xmlns:a="http://schemas.openxmlformats.org/drawingml/2006/main" n="1" d="1"/>
        <a:sy xmlns:a="http://schemas.openxmlformats.org/drawingml/2006/main" n="1" d="1"/>
      </p:scale>
      <p:origin x="0" y="0"/>
    </p:cViewPr>
  </p:notesTextViewPr>
  <p:gridSpacing cx="76200" cy="76200"/>
</p:viewPr>
</file>

<file path=ppt/_rels/presentation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aa382a26039643e7" /><Relationship Type="http://schemas.openxmlformats.org/officeDocument/2006/relationships/theme" Target="/ppt/theme/theme1.xml" Id="Rbf20c272d529428d" /><Relationship Type="http://schemas.openxmlformats.org/officeDocument/2006/relationships/notesMaster" Target="/ppt/notesMasters/notesMaster1.xml" Id="R601971fe2c7944ae" /><Relationship Type="http://schemas.openxmlformats.org/officeDocument/2006/relationships/presProps" Target="/ppt/presProps.xml" Id="Ra677df4181e04079" /><Relationship Type="http://schemas.openxmlformats.org/officeDocument/2006/relationships/viewProps" Target="/ppt/viewProps.xml" Id="Raa572957970447a6" /><Relationship Type="http://schemas.openxmlformats.org/officeDocument/2006/relationships/tableStyles" Target="/ppt/tableStyles.xml" Id="R645e92add1f3463a" /><Relationship Type="http://schemas.openxmlformats.org/officeDocument/2006/relationships/slide" Target="/ppt/slides/slide1.xml" Id="R1cf1ed61b2684339" /><Relationship Type="http://schemas.openxmlformats.org/officeDocument/2006/relationships/slide" Target="/ppt/slides/slide2.xml" Id="R7507bc7f04cb4a11" /><Relationship Type="http://schemas.openxmlformats.org/officeDocument/2006/relationships/slide" Target="/ppt/slides/slide3.xml" Id="R341532d5546c4f1a" /><Relationship Type="http://schemas.openxmlformats.org/officeDocument/2006/relationships/slide" Target="/ppt/slides/slide4.xml" Id="Ra5ba41cc9ba84407" /><Relationship Type="http://schemas.openxmlformats.org/officeDocument/2006/relationships/slide" Target="/ppt/slides/slide5.xml" Id="Rd4cdfb3e36aa4181" /></Relationships>
</file>

<file path=ppt/notesMasters/_rels/notesMaster1.xml.rels>&#65279;<?xml version="1.0" encoding="utf-8"?><Relationships xmlns="http://schemas.openxmlformats.org/package/2006/relationships"><Relationship Type="http://schemas.openxmlformats.org/officeDocument/2006/relationships/theme" Target="/ppt/notesMasters/theme/theme2.xml" Id="Rd211b2085b7140a9" /></Relationships>
</file>

<file path=ppt/notesMasters/notesMaster1.xml><?xml version="1.0" encoding="utf-8"?>
<p:notesMaster xmlns:p="http://schemas.openxmlformats.org/presentationml/2006/main">
  <p:cSld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Header Placeholder"/>
          <p:cNvSpPr/>
          <p:nvPr>
            <p:ph type="hdr" sz="quarter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3" name="Date Placeholder"/>
          <p:cNvSpPr/>
          <p:nvPr>
            <p:ph type="dt" sz="quarter" idx="1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Image Placeholder"/>
          <p:cNvSpPr/>
          <p:nvPr>
            <p:ph type="sldImg" idx="2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5" name="Notes Placeholder"/>
          <p:cNvSpPr/>
          <p:nvPr>
            <p:ph type="body" sz="quarter" idx="3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6" name="Footer Placeholder"/>
          <p:cNvSpPr/>
          <p:nvPr>
            <p:ph type="ftr" sz="quarter" idx="4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7" name="Slide Number Placeholder"/>
          <p:cNvSpPr/>
          <p:nvPr>
            <p:ph type="sldNum" sz="quarter" idx="5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xmlns:a="http://schemas.openxmlformats.org/drawingml/2006/main" marL="0" algn="l" defTabSz="914400" rtl="0" eaLnBrk="1" latinLnBrk="0" hangingPunct="1">
      <a:defRPr sz="1200" kern="1200"/>
    </a:lvl1pPr>
  </p:notesStyle>
</p:notesMaster>
</file>

<file path=ppt/notesMasters/theme/theme2.xml><?xml version="1.0" encoding="utf-8"?>
<a:theme xmlns:a="http://schemas.openxmlformats.org/drawingml/2006/main" name="Executive Briefing Demo">
  <a:themeElements>
    <a:clrScheme name="Executive Briefing Demo">
      <a:accent1>
        <a:srgbClr val="2563EB"/>
      </a:accent1>
      <a:accent2>
        <a:srgbClr val="0F766E"/>
      </a:accent2>
      <a:accent3>
        <a:srgbClr val="D97706"/>
      </a:accent3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Executive Briefing Demo">
      <a:fillStyleLst>
        <a:solidFill>
          <a:schemeClr val="phClr"/>
        </a:solidFill>
        <a:solidFill>
          <a:schemeClr val="dk1"/>
        </a:solidFill>
        <a:solidFill>
          <a:schemeClr val="accent1"/>
        </a:soli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notesSlides/_rels/notesSlide1.xml.rels>&#65279;<?xml version="1.0" encoding="utf-8"?><Relationships xmlns="http://schemas.openxmlformats.org/package/2006/relationships"><Relationship Type="http://schemas.openxmlformats.org/officeDocument/2006/relationships/slide" Target="/ppt/slides/slide1.xml" Id="Rc36ec1d7c3bc4364" /><Relationship Type="http://schemas.openxmlformats.org/officeDocument/2006/relationships/notesMaster" Target="/ppt/notesMasters/notesMaster1.xml" Id="Rf49a3bd54b614ae2" /></Relationships>
</file>

<file path=ppt/notesSlides/_rels/notesSlide2.xml.rels>&#65279;<?xml version="1.0" encoding="utf-8"?><Relationships xmlns="http://schemas.openxmlformats.org/package/2006/relationships"><Relationship Type="http://schemas.openxmlformats.org/officeDocument/2006/relationships/slide" Target="/ppt/slides/slide2.xml" Id="R2c663cdf3c7c4529" /><Relationship Type="http://schemas.openxmlformats.org/officeDocument/2006/relationships/notesMaster" Target="/ppt/notesMasters/notesMaster1.xml" Id="Rb645381b2bc94832" /></Relationships>
</file>

<file path=ppt/notesSlides/_rels/notesSlide3.xml.rels>&#65279;<?xml version="1.0" encoding="utf-8"?><Relationships xmlns="http://schemas.openxmlformats.org/package/2006/relationships"><Relationship Type="http://schemas.openxmlformats.org/officeDocument/2006/relationships/slide" Target="/ppt/slides/slide3.xml" Id="R60530d7548d14426" /><Relationship Type="http://schemas.openxmlformats.org/officeDocument/2006/relationships/notesMaster" Target="/ppt/notesMasters/notesMaster1.xml" Id="R1198277464d64d09" /></Relationships>
</file>

<file path=ppt/notesSlides/_rels/notesSlide4.xml.rels>&#65279;<?xml version="1.0" encoding="utf-8"?><Relationships xmlns="http://schemas.openxmlformats.org/package/2006/relationships"><Relationship Type="http://schemas.openxmlformats.org/officeDocument/2006/relationships/slide" Target="/ppt/slides/slide4.xml" Id="R219894fdb6bf4fc4" /><Relationship Type="http://schemas.openxmlformats.org/officeDocument/2006/relationships/notesMaster" Target="/ppt/notesMasters/notesMaster1.xml" Id="R2a93e5fee23f4c4b" /></Relationships>
</file>

<file path=ppt/notesSlides/_rels/notesSlide5.xml.rels>&#65279;<?xml version="1.0" encoding="utf-8"?><Relationships xmlns="http://schemas.openxmlformats.org/package/2006/relationships"><Relationship Type="http://schemas.openxmlformats.org/officeDocument/2006/relationships/slide" Target="/ppt/slides/slide5.xml" Id="Rfa98f7e9adb84842" /><Relationship Type="http://schemas.openxmlformats.org/officeDocument/2006/relationships/notesMaster" Target="/ppt/notesMasters/notesMaster1.xml" Id="R5baed085893a4ea2" /></Relationships>
</file>

<file path=ppt/notesSlides/notesSlide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3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4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5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slideLayouts/_rels/slideLayout2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51117417ccf84eb5" /></Relationships>
</file>

<file path=ppt/slideLayouts/slideLayout2.xml><?xml version="1.0" encoding="utf-8"?>
<p:sldLayout xmlns:p="http://schemas.openxmlformats.org/presentationml/2006/main" type="title">
  <p:cSld name="Title Slide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Title 1">
            <a:extLst xmlns:a="http://schemas.openxmlformats.org/drawingml/2006/main">
              <a:ext uri="{FF2B5EF4-FFF2-40B4-BE49-F238E27FC236}">
                <a16:creationId xmlns:a16="http://schemas.microsoft.com/office/drawing/2014/main" id="{586420F6-B558-43A1-A804-35E0A503AE17}"/>
              </a:ext>
            </a:extLst>
          </p:cNvPr>
          <p:cNvSpPr/>
          <p:nvPr>
            <p:ph type="ctrTitle" idx="0"/>
          </p:nvPr>
        </p:nvSpPr>
        <p:spPr>
          <a:xfrm xmlns:a="http://schemas.openxmlformats.org/drawingml/2006/main">
            <a:off x="1524000" y="1122363"/>
            <a:ext cx="9144000" cy="2387600"/>
          </a:xfrm>
        </p:spPr>
        <p:txBody>
          <a:bodyPr xmlns:a="http://schemas.openxmlformats.org/drawingml/2006/main" anchor="b"/>
          <a:lstStyle xmlns:a="http://schemas.openxmlformats.org/drawingml/2006/main">
            <a:lvl1pPr algn="ctr">
              <a:buNone/>
              <a:defRPr sz="6000"/>
            </a:lvl1pPr>
          </a:lstStyle>
          <a:p xmlns:a="http://schemas.openxmlformats.org/drawingml/2006/main"/>
        </p:txBody>
      </p:sp>
      <p:sp>
        <p:nvSpPr>
          <p:cNvPr id="2" name="Subtitle 2">
            <a:extLst xmlns:a="http://schemas.openxmlformats.org/drawingml/2006/main">
              <a:ext uri="{FF2B5EF4-FFF2-40B4-BE49-F238E27FC236}">
                <a16:creationId xmlns:a16="http://schemas.microsoft.com/office/drawing/2014/main" id="{C00613D8-B0C0-4122-A1A9-2CC82AB46362}"/>
              </a:ext>
            </a:extLst>
          </p:cNvPr>
          <p:cNvSpPr/>
          <p:nvPr>
            <p:ph type="subTitle" idx="1"/>
          </p:nvPr>
        </p:nvSpPr>
        <p:spPr>
          <a:xfrm xmlns:a="http://schemas.openxmlformats.org/drawingml/2006/main">
            <a:off x="1524000" y="3602038"/>
            <a:ext cx="9144000" cy="1655762"/>
          </a:xfrm>
        </p:spPr>
        <p:txBody>
          <a:bodyPr xmlns:a="http://schemas.openxmlformats.org/drawingml/2006/main"/>
          <a:lstStyle xmlns:a="http://schemas.openxmlformats.org/drawingml/2006/main"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 xmlns:a="http://schemas.openxmlformats.org/drawingml/2006/main"/>
        </p:txBody>
      </p:sp>
      <p:sp>
        <p:nvSpPr>
          <p:cNvPr id="3" name="Date Placeholder 3">
            <a:extLst xmlns:a="http://schemas.openxmlformats.org/drawingml/2006/main">
              <a:ext uri="{FF2B5EF4-FFF2-40B4-BE49-F238E27FC236}">
                <a16:creationId xmlns:a16="http://schemas.microsoft.com/office/drawing/2014/main" id="{FF4A766B-5C6E-4C80-9FCE-7F15455F059A}"/>
              </a:ext>
            </a:extLst>
          </p:cNvPr>
          <p:cNvSpPr/>
          <p:nvPr>
            <p:ph type="dt" idx="1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Footer Placeholder 4">
            <a:extLst xmlns:a="http://schemas.openxmlformats.org/drawingml/2006/main">
              <a:ext uri="{FF2B5EF4-FFF2-40B4-BE49-F238E27FC236}">
                <a16:creationId xmlns:a16="http://schemas.microsoft.com/office/drawing/2014/main" id="{8613A6C4-F784-4EC9-B723-8D8CEB635AF1}"/>
              </a:ext>
            </a:extLst>
          </p:cNvPr>
          <p:cNvSpPr/>
          <p:nvPr>
            <p:ph type="ftr" idx="1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5" name="Slide Number Placeholder 5">
            <a:extLst xmlns:a="http://schemas.openxmlformats.org/drawingml/2006/main">
              <a:ext uri="{FF2B5EF4-FFF2-40B4-BE49-F238E27FC236}">
                <a16:creationId xmlns:a16="http://schemas.microsoft.com/office/drawing/2014/main" id="{2ABBF3EC-52F3-4D5D-88DE-CE0FBD0B3A4D}"/>
              </a:ext>
            </a:extLst>
          </p:cNvPr>
          <p:cNvSpPr/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</p:sldLayout>
</file>

<file path=ppt/slideMasters/_rels/slideMaster1.xml.rels>&#65279;<?xml version="1.0" encoding="utf-8"?><Relationships xmlns="http://schemas.openxmlformats.org/package/2006/relationships"><Relationship Type="http://schemas.openxmlformats.org/officeDocument/2006/relationships/theme" Target="/ppt/theme/theme1.xml" Id="R702bac7664e64fce" /><Relationship Type="http://schemas.openxmlformats.org/officeDocument/2006/relationships/slideLayout" Target="/ppt/slideLayouts/slideLayout2.xml" Id="Rfcaabc32cdd24107" /></Relationships>
</file>

<file path=ppt/slideMasters/slideMaster1.xml><?xml version="1.0" encoding="utf-8"?>
<p:sldMaster xmlns:p="http://schemas.openxmlformats.org/presentationml/2006/main">
  <p:cSld name="Master"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Slide Number Placeholder 5">
            <a:extLst xmlns:a="http://schemas.openxmlformats.org/drawingml/2006/main">
              <a:ext uri="{FF2B5EF4-FFF2-40B4-BE49-F238E27FC236}">
                <a16:creationId xmlns:a16="http://schemas.microsoft.com/office/drawing/2014/main" id="{06512020-74D0-46B9-911A-580AFA0BCA19}"/>
              </a:ext>
            </a:extLst>
          </p:cNvPr>
          <p:cNvSpPr/>
          <p:nvPr>
            <p:ph type="sldNum" idx="4"/>
          </p:nvPr>
        </p:nvSpPr>
        <p:spPr>
          <a:xfrm xmlns:a="http://schemas.openxmlformats.org/drawingml/2006/main">
            <a:off x="8610600" y="6356350"/>
            <a:ext cx="2743200" cy="365125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vert="horz" lIns="91440" tIns="45720" rIns="91440" bIns="45720" anchor="ctr"/>
          <a:lstStyle xmlns:a="http://schemas.openxmlformats.org/drawingml/2006/main">
            <a:lvl1pPr algn="r">
              <a:buNone/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 xmlns:a="http://schemas.openxmlformats.org/drawingml/2006/main"/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xmlns:r="http://schemas.openxmlformats.org/officeDocument/2006/relationships" id="2147483649" r:id="Rfcaabc32cdd24107"/>
  </p:sldLayoutIdLst>
  <p:txStyles>
    <p:titleStyle>
      <a:lvl1pPr xmlns:a="http://schemas.openxmlformats.org/drawingml/2006/main" algn="l">
        <a:lnSpc>
          <a:spcPct val="90000"/>
        </a:lnSpc>
        <a:spcBef>
          <a:spcPts val="0"/>
        </a:spcBef>
        <a:buNone/>
        <a:defRPr sz="4400">
          <a:solidFill>
            <a:schemeClr val="tx1"/>
          </a:solidFill>
          <a:latin typeface="+mj-lt"/>
          <a:ea typeface="+mj-lt"/>
          <a:cs typeface="+mj-lt"/>
        </a:defRPr>
      </a:lvl1pPr>
    </p:titleStyle>
    <p:bodyStyle>
      <a:lvl1pPr xmlns:a="http://schemas.openxmlformats.org/drawingml/2006/main" marL="228600" indent="-228600" algn="l">
        <a:lnSpc>
          <a:spcPct val="90000"/>
        </a:lnSpc>
        <a:spcBef>
          <a:spcPts val="1000"/>
        </a:spcBef>
        <a:buChar char="•"/>
        <a:defRPr sz="28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685800" indent="-228600" algn="l">
        <a:lnSpc>
          <a:spcPct val="90000"/>
        </a:lnSpc>
        <a:spcBef>
          <a:spcPts val="500"/>
        </a:spcBef>
        <a:buChar char="•"/>
        <a:defRPr sz="24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1143000" indent="-228600" algn="l">
        <a:lnSpc>
          <a:spcPct val="90000"/>
        </a:lnSpc>
        <a:spcBef>
          <a:spcPts val="500"/>
        </a:spcBef>
        <a:buChar char="•"/>
        <a:defRPr sz="20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600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20574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5146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9718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4290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886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9pPr>
    </p:bodyStyle>
    <p:otherStyle>
      <a:lvl1pPr xmlns:a="http://schemas.openxmlformats.org/drawingml/2006/main" marL="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457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914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371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18288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2860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743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200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657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9pPr>
    </p:otherStyle>
  </p:txStyles>
</p:sldMaster>
</file>

<file path=ppt/slides/_rels/slide1.xml.rels>&#65279;<?xml version="1.0" encoding="utf-8"?><Relationships xmlns="http://schemas.openxmlformats.org/package/2006/relationships"><Relationship Type="http://schemas.openxmlformats.org/officeDocument/2006/relationships/slideLayout" Target="/ppt/slideLayouts/slideLayout2.xml" Id="Ra80274d5c88d4c2a" /><Relationship Type="http://schemas.openxmlformats.org/officeDocument/2006/relationships/notesSlide" Target="/ppt/notesSlides/notesSlide1.xml" Id="R1859c41b170449ee" /></Relationships>
</file>

<file path=ppt/slides/_rels/slide2.xml.rels>&#65279;<?xml version="1.0" encoding="utf-8"?><Relationships xmlns="http://schemas.openxmlformats.org/package/2006/relationships"><Relationship Type="http://schemas.openxmlformats.org/officeDocument/2006/relationships/slideLayout" Target="/ppt/slideLayouts/slideLayout2.xml" Id="Raac90d7d6d44460b" /><Relationship Type="http://schemas.openxmlformats.org/officeDocument/2006/relationships/notesSlide" Target="/ppt/notesSlides/notesSlide2.xml" Id="R9bca4cfa430f48e8" /></Relationships>
</file>

<file path=ppt/slides/_rels/slide3.xml.rels>&#65279;<?xml version="1.0" encoding="utf-8"?><Relationships xmlns="http://schemas.openxmlformats.org/package/2006/relationships"><Relationship Type="http://schemas.openxmlformats.org/officeDocument/2006/relationships/slideLayout" Target="/ppt/slideLayouts/slideLayout2.xml" Id="R71c4b4730f19471b" /><Relationship Type="http://schemas.openxmlformats.org/officeDocument/2006/relationships/chart" Target="/ppt/slides/charts/chart1.xml" Id="R2daf45ea62114f47" /><Relationship Type="http://schemas.openxmlformats.org/officeDocument/2006/relationships/notesSlide" Target="/ppt/notesSlides/notesSlide3.xml" Id="R3bb91dca7c8d4093" /></Relationships>
</file>

<file path=ppt/slides/_rels/slide4.xml.rels>&#65279;<?xml version="1.0" encoding="utf-8"?><Relationships xmlns="http://schemas.openxmlformats.org/package/2006/relationships"><Relationship Type="http://schemas.openxmlformats.org/officeDocument/2006/relationships/slideLayout" Target="/ppt/slideLayouts/slideLayout2.xml" Id="Ra3571acdd6874021" /><Relationship Type="http://schemas.openxmlformats.org/officeDocument/2006/relationships/notesSlide" Target="/ppt/notesSlides/notesSlide4.xml" Id="R36eb1388136e4d06" /></Relationships>
</file>

<file path=ppt/slides/_rels/slide5.xml.rels>&#65279;<?xml version="1.0" encoding="utf-8"?><Relationships xmlns="http://schemas.openxmlformats.org/package/2006/relationships"><Relationship Type="http://schemas.openxmlformats.org/officeDocument/2006/relationships/slideLayout" Target="/ppt/slideLayouts/slideLayout2.xml" Id="Rf9d10b3b7ae34727" /><Relationship Type="http://schemas.openxmlformats.org/officeDocument/2006/relationships/notesSlide" Target="/ppt/notesSlides/notesSlide5.xml" Id="Ra9310d9902b04dad" /></Relationships>
</file>

<file path=ppt/slides/charts/chart1.xml><?xml version="1.0" encoding="utf-8"?>
<c:chartSpace xmlns:c="http://schemas.openxmlformats.org/drawingml/2006/chart">
  <c:lang val="en-US"/>
  <c:roundedCorners val="0"/>
  <c:chart>
    <c:title>
      <c:tx>
        <c:rich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rPr sz="1500">
                <a:solidFill>
                  <a:srgbClr val="0F172A"/>
                </a:solidFill>
                <a:latin typeface="Poppins"/>
                <a:ea typeface="Poppins"/>
                <a:cs typeface="Poppins"/>
              </a:rPr>
              <a:t>ARR and Qualified Pipeline</a:t>
            </a:r>
          </a:p>
        </c:rich>
      </c:tx>
      <c:overlay val="0"/>
      <c:txPr>
        <a:bodyPr xmlns:a="http://schemas.openxmlformats.org/drawingml/2006/main" anchorCtr="1"/>
        <a:lstStyle xmlns:a="http://schemas.openxmlformats.org/drawingml/2006/main"/>
        <a:p xmlns:a="http://schemas.openxmlformats.org/drawingml/2006/main">
          <a:pPr>
            <a:defRPr sz="1500">
              <a:solidFill>
                <a:srgbClr val="0F172A"/>
              </a:solidFill>
              <a:latin typeface="Poppins"/>
              <a:ea typeface="Poppins"/>
              <a:cs typeface="Poppins"/>
            </a:defRPr>
          </a:pPr>
        </a:p>
      </c:txPr>
    </c:title>
    <c:autoTitleDeleted val="0"/>
    <c:view3D/>
    <c:plotArea>
      <c:layout/>
      <c:lineChart>
        <c:grouping val="standard"/>
        <c:varyColors val="0"/>
        <c:ser>
          <c:idx val="0"/>
          <c:order val="0"/>
          <c:tx>
            <c:v>ARR ($k)</c:v>
          </c:tx>
          <c:spPr>
            <a:solidFill xmlns:a="http://schemas.openxmlformats.org/drawingml/2006/main">
              <a:srgbClr val="2563EB"/>
            </a:solidFill>
            <a:ln xmlns:a="http://schemas.openxmlformats.org/drawingml/2006/main" w="28575">
              <a:solidFill>
                <a:srgbClr val="2563EB"/>
              </a:solidFill>
              <a:prstDash val="solid"/>
            </a:ln>
          </c:spPr>
          <c:marker/>
          <c:cat>
            <c:strLit>
              <c:ptCount val="6"/>
              <c:pt idx="0">
                <c:v>Jan 26</c:v>
              </c:pt>
              <c:pt idx="1">
                <c:v>Feb 26</c:v>
              </c:pt>
              <c:pt idx="2">
                <c:v>Mar 26</c:v>
              </c:pt>
              <c:pt idx="3">
                <c:v>Apr 26</c:v>
              </c:pt>
              <c:pt idx="4">
                <c:v>May 26</c:v>
              </c:pt>
              <c:pt idx="5">
                <c:v>Jun 26</c:v>
              </c:pt>
            </c:strLit>
          </c:cat>
          <c:val>
            <c:numLit>
              <c:formatCode/>
              <c:ptCount val="6"/>
              <c:pt idx="0">
                <c:v>1420</c:v>
              </c:pt>
              <c:pt idx="1">
                <c:v>1465</c:v>
              </c:pt>
              <c:pt idx="2">
                <c:v>1510</c:v>
              </c:pt>
              <c:pt idx="3">
                <c:v>1568</c:v>
              </c:pt>
              <c:pt idx="4">
                <c:v>1624</c:v>
              </c:pt>
              <c:pt idx="5">
                <c:v>1688</c:v>
              </c:pt>
            </c:numLit>
          </c:val>
          <c:smooth val="0"/>
        </c:ser>
        <c:ser>
          <c:idx val="1"/>
          <c:order val="1"/>
          <c:tx>
            <c:v>Qualified Pipeline ($k)</c:v>
          </c:tx>
          <c:spPr>
            <a:solidFill xmlns:a="http://schemas.openxmlformats.org/drawingml/2006/main">
              <a:srgbClr val="0F766E"/>
            </a:solidFill>
            <a:ln xmlns:a="http://schemas.openxmlformats.org/drawingml/2006/main" w="28575">
              <a:solidFill>
                <a:srgbClr val="0F766E"/>
              </a:solidFill>
              <a:prstDash val="solid"/>
            </a:ln>
          </c:spPr>
          <c:marker/>
          <c:cat>
            <c:strLit>
              <c:ptCount val="6"/>
              <c:pt idx="0">
                <c:v>Jan 26</c:v>
              </c:pt>
              <c:pt idx="1">
                <c:v>Feb 26</c:v>
              </c:pt>
              <c:pt idx="2">
                <c:v>Mar 26</c:v>
              </c:pt>
              <c:pt idx="3">
                <c:v>Apr 26</c:v>
              </c:pt>
              <c:pt idx="4">
                <c:v>May 26</c:v>
              </c:pt>
              <c:pt idx="5">
                <c:v>Jun 26</c:v>
              </c:pt>
            </c:strLit>
          </c:cat>
          <c:val>
            <c:numLit>
              <c:formatCode/>
              <c:ptCount val="6"/>
              <c:pt idx="0">
                <c:v>980</c:v>
              </c:pt>
              <c:pt idx="1">
                <c:v>1020</c:v>
              </c:pt>
              <c:pt idx="2">
                <c:v>1085</c:v>
              </c:pt>
              <c:pt idx="3">
                <c:v>1175</c:v>
              </c:pt>
              <c:pt idx="4">
                <c:v>1250</c:v>
              </c:pt>
              <c:pt idx="5">
                <c:v>1335</c:v>
              </c:pt>
            </c:numLit>
          </c:val>
          <c:smooth val="0"/>
        </c:ser>
        <c:dLbls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axId val="48650112"/>
        <c:axId val="48672768"/>
      </c:lineChart>
      <c:catAx>
        <c:axId val="48650112"/>
        <c:scaling>
          <c:orientation val="minMax"/>
        </c:scaling>
        <c:delete val="0"/>
        <c:axPos val="b"/>
        <c:numFmt formatCode=""/>
        <c:majorTickMark val="none"/>
        <c:minorTickMark val="none"/>
        <c:spPr>
          <a:ln xmlns:a="http://schemas.openxmlformats.org/drawingml/2006/main" w="9525">
            <a:solidFill>
              <a:srgbClr val="D4D4D4"/>
            </a:solidFill>
            <a:prstDash val="solid"/>
          </a:ln>
        </c:spPr>
        <c:txPr>
          <a:bodyPr xmlns:a="http://schemas.openxmlformats.org/drawingml/2006/main" anchorCtr="1"/>
          <a:lstStyle xmlns:a="http://schemas.openxmlformats.org/drawingml/2006/main"/>
          <a:p xmlns:a="http://schemas.openxmlformats.org/drawingml/2006/main">
            <a:pPr>
              <a:defRPr sz="1050">
                <a:solidFill>
                  <a:srgbClr val="666666"/>
                </a:solidFill>
                <a:latin typeface="Lato"/>
                <a:ea typeface="Lato"/>
                <a:cs typeface="Lato"/>
              </a:defRPr>
            </a:pPr>
          </a:p>
        </c:txPr>
        <c:crossAx val="48672768"/>
        <c:crosses val="autoZero"/>
        <c:lblAlgn val="ctr"/>
        <c:lblOffset val="100"/>
        <c:noMultiLvlLbl val="0"/>
      </c:catAx>
      <c:valAx>
        <c:axId val="48672768"/>
        <c:scaling>
          <c:orientation val="minMax"/>
        </c:scaling>
        <c:delete val="1"/>
        <c:axPos val="l"/>
        <c:numFmt formatCode=""/>
        <c:majorTickMark val="none"/>
        <c:minorTickMark val="none"/>
        <c:spPr>
          <a:ln xmlns:a="http://schemas.openxmlformats.org/drawingml/2006/main" w="9525">
            <a:solidFill>
              <a:srgbClr val="D4D4D4"/>
            </a:solidFill>
            <a:prstDash val="solid"/>
          </a:ln>
        </c:spPr>
        <c:txPr>
          <a:bodyPr xmlns:a="http://schemas.openxmlformats.org/drawingml/2006/main" anchorCtr="1"/>
          <a:lstStyle xmlns:a="http://schemas.openxmlformats.org/drawingml/2006/main"/>
          <a:p xmlns:a="http://schemas.openxmlformats.org/drawingml/2006/main">
            <a:pPr>
              <a:defRPr sz="1050">
                <a:solidFill>
                  <a:srgbClr val="666666"/>
                </a:solidFill>
                <a:latin typeface="Lato"/>
                <a:ea typeface="Lato"/>
                <a:cs typeface="Lato"/>
              </a:defRPr>
            </a:pPr>
          </a:p>
        </c:txPr>
        <c:crossAx val="48650112"/>
        <c:crosses val="autoZero"/>
        <c:crossBetween val="between"/>
      </c:valAx>
      <c:spPr>
        <a:solidFill xmlns:a="http://schemas.openxmlformats.org/drawingml/2006/main">
          <a:srgbClr val="FFFFFF"/>
        </a:solidFill>
      </c:spPr>
    </c:plotArea>
    <c:legend>
      <c:legendPos val="b"/>
      <c:overlay val="0"/>
      <c:txPr>
        <a:bodyPr xmlns:a="http://schemas.openxmlformats.org/drawingml/2006/main" anchorCtr="1"/>
        <a:lstStyle xmlns:a="http://schemas.openxmlformats.org/drawingml/2006/main"/>
        <a:p xmlns:a="http://schemas.openxmlformats.org/drawingml/2006/main">
          <a:pPr>
            <a:defRPr sz="1050">
              <a:latin typeface="Lato"/>
              <a:ea typeface="Lato"/>
              <a:cs typeface="Lato"/>
            </a:defRPr>
          </a:pPr>
        </a:p>
      </c:txPr>
    </c:legend>
    <c:plotVisOnly val="1"/>
  </c:chart>
</c:chartSpace>
</file>

<file path=ppt/slides/slide1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Slide Number Placeholder 5">
            <a:extLst xmlns:a="http://schemas.openxmlformats.org/drawingml/2006/main">
              <a:ext uri="{FF2B5EF4-FFF2-40B4-BE49-F238E27FC236}">
                <a16:creationId xmlns:a16="http://schemas.microsoft.com/office/drawing/2014/main" id="{2ABBF3EC-52F3-4D5D-88DE-CE0FBD0B3A4D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>
          <a:xfrm xmlns:a="http://schemas.openxmlformats.org/drawingml/2006/main">
            <a:off x="1524000" y="1122363"/>
            <a:ext cx="9144000" cy="2387600"/>
          </a:xfr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/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BC4852AB-12B7-4302-9A9D-A1211B8D2F6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8FAFC"/>
          </a:solidFill>
          <a:ln xmlns:a="http://schemas.openxmlformats.org/drawingml/2006/main" w="0">
            <a:solidFill>
              <a:srgbClr val="F8FAFC"/>
            </a:solidFill>
            <a:prstDash val="solid"/>
          </a:ln>
        </p:spPr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5A396260-0431-4D58-8D55-0C6617CE6DD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171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563EB"/>
          </a:solidFill>
          <a:ln xmlns:a="http://schemas.openxmlformats.org/drawingml/2006/main" w="0">
            <a:solidFill>
              <a:srgbClr val="2563EB"/>
            </a:solidFill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9B8FD63B-DAA3-4283-B9CD-32FEB8AF159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2950" y="838200"/>
            <a:ext cx="7048500" cy="438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r>
              <a:rPr sz="2550" b="1">
                <a:solidFill>
                  <a:srgbClr val="0F172A"/>
                </a:solidFill>
              </a:rPr>
              <a:t>Executive Briefing Machine Demo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78F7A7AB-42B3-4A11-BFCC-CCDEC91F4CB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2950" y="1428750"/>
            <a:ext cx="7239000" cy="838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r>
              <a:rPr sz="1800" b="0">
                <a:solidFill>
                  <a:srgbClr val="334155"/>
                </a:solidFill>
              </a:rPr>
              <a:t>Growth and efficiency improved this month, with reliability still the main watch item.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FABFA8AC-2B06-4067-88D9-D276FEB6823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2950" y="2857500"/>
            <a:ext cx="3333750" cy="2190750"/>
          </a:xfrm>
          <a:prstGeom xmlns:a="http://schemas.openxmlformats.org/drawingml/2006/main" prst="roundRect">
            <a:avLst>
              <a:gd name="adj" fmla="val 3478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CBD5E1"/>
            </a:solidFill>
            <a:prstDash val="solid"/>
          </a:ln>
        </p:spPr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5102EE5D-30BC-4828-AB49-EBB5768876D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3028950"/>
            <a:ext cx="609600" cy="9525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0F766E"/>
          </a:solidFill>
          <a:ln xmlns:a="http://schemas.openxmlformats.org/drawingml/2006/main" w="0">
            <a:solidFill>
              <a:srgbClr val="0F766E"/>
            </a:solidFill>
            <a:prstDash val="solid"/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0438B947-72C5-4C22-98BB-86E98C5DEAB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3238500"/>
            <a:ext cx="2990850" cy="3238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r>
              <a:rPr sz="1800" b="1">
                <a:solidFill>
                  <a:srgbClr val="0F172A"/>
                </a:solidFill>
              </a:rPr>
              <a:t>Period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31F12B20-1E6A-40CD-BDD2-CCD9964E800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3657600"/>
            <a:ext cx="2990850" cy="1238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r>
              <a:rPr sz="1200" b="0">
                <a:solidFill>
                  <a:srgbClr val="334155"/>
                </a:solidFill>
              </a:rPr>
              <a:t>May 2026 to Jun 2026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rPr sz="1200" b="0">
                <a:solidFill>
                  <a:srgbClr val="334155"/>
                </a:solidFill>
              </a:rPr>
              <a:t>Generated from sample collaboration-style inputs with connector-ready adapters.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D93F9971-133E-4A55-BBF8-885A097A634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81500" y="2857500"/>
            <a:ext cx="3333750" cy="2190750"/>
          </a:xfrm>
          <a:prstGeom xmlns:a="http://schemas.openxmlformats.org/drawingml/2006/main" prst="roundRect">
            <a:avLst>
              <a:gd name="adj" fmla="val 3478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CBD5E1"/>
            </a:solidFill>
            <a:prstDash val="solid"/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6845BD06-718A-45CF-A939-4431193AE26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52950" y="3028950"/>
            <a:ext cx="609600" cy="9525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D97706"/>
          </a:solidFill>
          <a:ln xmlns:a="http://schemas.openxmlformats.org/drawingml/2006/main" w="0">
            <a:solidFill>
              <a:srgbClr val="D97706"/>
            </a:solidFill>
            <a:prstDash val="solid"/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3983F299-6108-4C99-A139-D5D19D75EFE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52950" y="3238500"/>
            <a:ext cx="2990850" cy="3238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r>
              <a:rPr sz="1800" b="1">
                <a:solidFill>
                  <a:srgbClr val="0F172A"/>
                </a:solidFill>
              </a:rPr>
              <a:t>Operating readout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D479E14C-35A7-4C8C-B912-666C8BB4F43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52950" y="3657600"/>
            <a:ext cx="2990850" cy="1238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r>
              <a:rPr sz="1200" b="0">
                <a:solidFill>
                  <a:srgbClr val="334155"/>
                </a:solidFill>
              </a:rPr>
              <a:t>ARR reached $1688k and qualified pipeline rose to $1335k, keeping the Q3 growth story credible.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rPr sz="1200" b="0">
                <a:solidFill>
                  <a:srgbClr val="334155"/>
                </a:solidFill>
              </a:rPr>
              <a:t>Net burn improved to $226k and NRR moved to 114%, which supports the efficiency narrative leadership wants to maintain.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55AC70B3-CB85-4E3F-BC2F-74ABD1B748A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20050" y="1714500"/>
            <a:ext cx="3429000" cy="3333750"/>
          </a:xfrm>
          <a:prstGeom xmlns:a="http://schemas.openxmlformats.org/drawingml/2006/main" prst="roundRect">
            <a:avLst>
              <a:gd name="adj" fmla="val 2286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CBD5E1"/>
            </a:solidFill>
            <a:prstDash val="solid"/>
          </a:ln>
        </p:spPr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8C50D812-89D3-4E27-8D16-2983721B1A2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0" y="1885950"/>
            <a:ext cx="609600" cy="9525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BE123C"/>
          </a:solidFill>
          <a:ln xmlns:a="http://schemas.openxmlformats.org/drawingml/2006/main" w="0">
            <a:solidFill>
              <a:srgbClr val="BE123C"/>
            </a:solidFill>
            <a:prstDash val="solid"/>
          </a:ln>
        </p:spPr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9B837D7E-837C-4FB6-BDA6-CEA9D8C50B8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0" y="2095500"/>
            <a:ext cx="3086100" cy="3238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r>
              <a:rPr sz="1800" b="1">
                <a:solidFill>
                  <a:srgbClr val="0F172A"/>
                </a:solidFill>
              </a:rPr>
              <a:t>Watch item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61FA2509-1912-4E8E-BBC6-BACF3335AB1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0" y="2514600"/>
            <a:ext cx="3086100" cy="2381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r>
              <a:rPr sz="1200" b="0">
                <a:solidFill>
                  <a:srgbClr val="334155"/>
                </a:solidFill>
              </a:rPr>
              <a:t>The main risk remains mobile reliability and enterprise deal friction around security review turnaround.</a:t>
            </a:r>
          </a:p>
        </p:txBody>
      </p:sp>
    </p:spTree>
    <p:extLst>
      <p:ext uri="{BB962C8B-B14F-4D97-AF65-F5344CB8AC3E}">
        <p14:creationId xmlns:p14="http://schemas.microsoft.com/office/powerpoint/2010/main" val="640480104"/>
      </p:ext>
    </p:extLst>
  </p:cSld>
</p:sld>
</file>

<file path=ppt/slides/slide2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Slide Number Placeholder 5">
            <a:extLst xmlns:a="http://schemas.openxmlformats.org/drawingml/2006/main">
              <a:ext uri="{FF2B5EF4-FFF2-40B4-BE49-F238E27FC236}">
                <a16:creationId xmlns:a16="http://schemas.microsoft.com/office/drawing/2014/main" id="{2ABBF3EC-52F3-4D5D-88DE-CE0FBD0B3A4D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>
          <a:xfrm xmlns:a="http://schemas.openxmlformats.org/drawingml/2006/main">
            <a:off x="1524000" y="1122363"/>
            <a:ext cx="9144000" cy="2387600"/>
          </a:xfr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/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D4DFCE2E-3724-44E1-BC7A-D85DA922801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8FAFC"/>
          </a:solidFill>
          <a:ln xmlns:a="http://schemas.openxmlformats.org/drawingml/2006/main" w="0">
            <a:solidFill>
              <a:srgbClr val="F8FAFC"/>
            </a:solidFill>
            <a:prstDash val="solid"/>
          </a:ln>
        </p:spPr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0A24785C-9FA7-465A-8C5B-4964DBEF044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171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F766E"/>
          </a:solidFill>
          <a:ln xmlns:a="http://schemas.openxmlformats.org/drawingml/2006/main" w="0">
            <a:solidFill>
              <a:srgbClr val="0F766E"/>
            </a:solidFill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8E27683B-0761-4886-98C9-EC98E73E194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2950" y="685800"/>
            <a:ext cx="6858000" cy="381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r>
              <a:rPr sz="2250" b="1">
                <a:solidFill>
                  <a:srgbClr val="0F172A"/>
                </a:solidFill>
              </a:rPr>
              <a:t>KPI snapshot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2524F808-A827-43AF-BB47-6B0F74ED82A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2950" y="1428750"/>
            <a:ext cx="3238500" cy="1714500"/>
          </a:xfrm>
          <a:prstGeom xmlns:a="http://schemas.openxmlformats.org/drawingml/2006/main" prst="roundRect">
            <a:avLst>
              <a:gd name="adj" fmla="val 4444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CBD5E1"/>
            </a:solidFill>
            <a:prstDash val="solid"/>
          </a:ln>
        </p:spPr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A5BD9FF0-BFC7-48E4-9181-8E646854530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1600200"/>
            <a:ext cx="609600" cy="9525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0F766E"/>
          </a:solidFill>
          <a:ln xmlns:a="http://schemas.openxmlformats.org/drawingml/2006/main" w="0">
            <a:solidFill>
              <a:srgbClr val="0F766E"/>
            </a:solidFill>
            <a:prstDash val="solid"/>
          </a:ln>
        </p:spPr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ED806B7B-1241-4D04-B293-2D1E9978449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1809750"/>
            <a:ext cx="2895600" cy="3238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r>
              <a:rPr sz="1800" b="1">
                <a:solidFill>
                  <a:srgbClr val="0F172A"/>
                </a:solidFill>
              </a:rPr>
              <a:t>ARR: $1688k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F543B42C-732F-461A-855D-933A248D0C4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2228850"/>
            <a:ext cx="2895600" cy="762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r>
              <a:rPr sz="1200" b="0">
                <a:solidFill>
                  <a:srgbClr val="334155"/>
                </a:solidFill>
              </a:rPr>
              <a:t>+64k vs last month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2D3F36DA-0486-42BC-93E0-E41CAC84167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62450" y="1428750"/>
            <a:ext cx="3238500" cy="1714500"/>
          </a:xfrm>
          <a:prstGeom xmlns:a="http://schemas.openxmlformats.org/drawingml/2006/main" prst="roundRect">
            <a:avLst>
              <a:gd name="adj" fmla="val 4444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CBD5E1"/>
            </a:solidFill>
            <a:prstDash val="solid"/>
          </a:ln>
        </p:spPr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27691D16-547C-4D62-A758-DF7CEC79AE9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33900" y="1600200"/>
            <a:ext cx="609600" cy="9525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0F766E"/>
          </a:solidFill>
          <a:ln xmlns:a="http://schemas.openxmlformats.org/drawingml/2006/main" w="0">
            <a:solidFill>
              <a:srgbClr val="0F766E"/>
            </a:solidFill>
            <a:prstDash val="solid"/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993B566C-08BC-4799-85E8-252F7C46483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33900" y="1809750"/>
            <a:ext cx="2895600" cy="3238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r>
              <a:rPr sz="1800" b="1">
                <a:solidFill>
                  <a:srgbClr val="0F172A"/>
                </a:solidFill>
              </a:rPr>
              <a:t>Qualified Pipeline: $1335k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0DE75597-6C3F-47FE-AF69-1774B3BE21F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33900" y="2228850"/>
            <a:ext cx="2895600" cy="762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r>
              <a:rPr sz="1200" b="0">
                <a:solidFill>
                  <a:srgbClr val="334155"/>
                </a:solidFill>
              </a:rPr>
              <a:t>+85k vs last month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D11DA134-DF8A-4CBD-A40D-96C81DFFCCD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981950" y="1428750"/>
            <a:ext cx="3238500" cy="1714500"/>
          </a:xfrm>
          <a:prstGeom xmlns:a="http://schemas.openxmlformats.org/drawingml/2006/main" prst="roundRect">
            <a:avLst>
              <a:gd name="adj" fmla="val 4444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CBD5E1"/>
            </a:solidFill>
            <a:prstDash val="solid"/>
          </a:ln>
        </p:spPr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B06AFF12-B800-4E47-807B-D36B2AF1E8E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53400" y="1600200"/>
            <a:ext cx="609600" cy="9525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0F766E"/>
          </a:solidFill>
          <a:ln xmlns:a="http://schemas.openxmlformats.org/drawingml/2006/main" w="0">
            <a:solidFill>
              <a:srgbClr val="0F766E"/>
            </a:solidFill>
            <a:prstDash val="solid"/>
          </a:ln>
        </p:spPr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3FAFE327-015D-45B7-9D1D-BF1EB04F6DC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53400" y="1809750"/>
            <a:ext cx="2895600" cy="3238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r>
              <a:rPr sz="1800" b="1">
                <a:solidFill>
                  <a:srgbClr val="0F172A"/>
                </a:solidFill>
              </a:rPr>
              <a:t>Net Burn: $226k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BE9A8CCE-6847-4C2C-A5FE-273562FF9C8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53400" y="2228850"/>
            <a:ext cx="2895600" cy="762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r>
              <a:rPr sz="1200" b="0">
                <a:solidFill>
                  <a:srgbClr val="334155"/>
                </a:solidFill>
              </a:rPr>
              <a:t>-5k vs last month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4A702563-836E-4B4D-BC24-5A24C337495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2950" y="3524250"/>
            <a:ext cx="3238500" cy="1714500"/>
          </a:xfrm>
          <a:prstGeom xmlns:a="http://schemas.openxmlformats.org/drawingml/2006/main" prst="roundRect">
            <a:avLst>
              <a:gd name="adj" fmla="val 4444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CBD5E1"/>
            </a:solidFill>
            <a:prstDash val="solid"/>
          </a:ln>
        </p:spPr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BE5FB15A-7A23-4BF7-8A45-7CDEE75934A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3695700"/>
            <a:ext cx="609600" cy="9525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0F766E"/>
          </a:solidFill>
          <a:ln xmlns:a="http://schemas.openxmlformats.org/drawingml/2006/main" w="0">
            <a:solidFill>
              <a:srgbClr val="0F766E"/>
            </a:solidFill>
            <a:prstDash val="solid"/>
          </a:ln>
        </p:spPr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4F8F5F0E-61D3-410A-8389-34BADBBAD86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3905250"/>
            <a:ext cx="2895600" cy="3238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r>
              <a:rPr sz="1800" b="1">
                <a:solidFill>
                  <a:srgbClr val="0F172A"/>
                </a:solidFill>
              </a:rPr>
              <a:t>NRR: 114%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84D763A5-8997-443E-809D-E6B0A3919FD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4324350"/>
            <a:ext cx="2895600" cy="762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r>
              <a:rPr sz="1200" b="0">
                <a:solidFill>
                  <a:srgbClr val="334155"/>
                </a:solidFill>
              </a:rPr>
              <a:t>+1 pts vs last month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304CB18B-5DBC-4CD6-B25C-F27FC1FF959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62450" y="3524250"/>
            <a:ext cx="3238500" cy="1714500"/>
          </a:xfrm>
          <a:prstGeom xmlns:a="http://schemas.openxmlformats.org/drawingml/2006/main" prst="roundRect">
            <a:avLst>
              <a:gd name="adj" fmla="val 4444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CBD5E1"/>
            </a:solidFill>
            <a:prstDash val="solid"/>
          </a:ln>
        </p:spPr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4E76B144-DB45-4AFD-873D-440414C84ED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33900" y="3695700"/>
            <a:ext cx="609600" cy="9525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0F766E"/>
          </a:solidFill>
          <a:ln xmlns:a="http://schemas.openxmlformats.org/drawingml/2006/main" w="0">
            <a:solidFill>
              <a:srgbClr val="0F766E"/>
            </a:solidFill>
            <a:prstDash val="solid"/>
          </a:ln>
        </p:spPr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09BB6D1C-8D73-4415-B1AF-675E65CBA46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33900" y="3905250"/>
            <a:ext cx="2895600" cy="3238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r>
              <a:rPr sz="1800" b="1">
                <a:solidFill>
                  <a:srgbClr val="0F172A"/>
                </a:solidFill>
              </a:rPr>
              <a:t>Sev-1 Incidents: 1</a:t>
            </a:r>
          </a:p>
        </p:txBody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34530B0E-12BB-4387-A358-AF7B2EA3E3C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33900" y="4324350"/>
            <a:ext cx="2895600" cy="762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r>
              <a:rPr sz="1200" b="0">
                <a:solidFill>
                  <a:srgbClr val="334155"/>
                </a:solidFill>
              </a:rPr>
              <a:t>+1 incident improvement</a:t>
            </a:r>
          </a:p>
        </p:txBody>
      </p:sp>
    </p:spTree>
    <p:extLst>
      <p:ext uri="{BB962C8B-B14F-4D97-AF65-F5344CB8AC3E}">
        <p14:creationId xmlns:p14="http://schemas.microsoft.com/office/powerpoint/2010/main" val="1552077176"/>
      </p:ext>
    </p:extLst>
  </p:cSld>
</p:sld>
</file>

<file path=ppt/slides/slide3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Slide Number Placeholder 5">
            <a:extLst xmlns:a="http://schemas.openxmlformats.org/drawingml/2006/main">
              <a:ext uri="{FF2B5EF4-FFF2-40B4-BE49-F238E27FC236}">
                <a16:creationId xmlns:a16="http://schemas.microsoft.com/office/drawing/2014/main" id="{2ABBF3EC-52F3-4D5D-88DE-CE0FBD0B3A4D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>
          <a:xfrm xmlns:a="http://schemas.openxmlformats.org/drawingml/2006/main">
            <a:off x="1524000" y="1122363"/>
            <a:ext cx="9144000" cy="2387600"/>
          </a:xfr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/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7DF89A35-985D-4670-989F-424C9C5531D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8FAFC"/>
          </a:solidFill>
          <a:ln xmlns:a="http://schemas.openxmlformats.org/drawingml/2006/main" w="0">
            <a:solidFill>
              <a:srgbClr val="F8FAFC"/>
            </a:solidFill>
            <a:prstDash val="solid"/>
          </a:ln>
        </p:spPr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15289DC0-64E1-45D2-9D67-66D718BE391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171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97706"/>
          </a:solidFill>
          <a:ln xmlns:a="http://schemas.openxmlformats.org/drawingml/2006/main" w="0">
            <a:solidFill>
              <a:srgbClr val="D97706"/>
            </a:solidFill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A5023F64-042B-4083-8808-66AEFC83951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2950" y="685800"/>
            <a:ext cx="6858000" cy="381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r>
              <a:rPr sz="2250" b="1">
                <a:solidFill>
                  <a:srgbClr val="0F172A"/>
                </a:solidFill>
              </a:rPr>
              <a:t>Growth and pipeline trend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370D5128-0FA8-4B95-86FC-1F7E1D32EF6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2950" y="1428750"/>
            <a:ext cx="3333750" cy="4476750"/>
          </a:xfrm>
          <a:prstGeom xmlns:a="http://schemas.openxmlformats.org/drawingml/2006/main" prst="roundRect">
            <a:avLst>
              <a:gd name="adj" fmla="val 2286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CBD5E1"/>
            </a:solidFill>
            <a:prstDash val="solid"/>
          </a:ln>
        </p:spPr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5A276525-A5D5-4EF7-9E4B-EB8AA45BB2A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1600200"/>
            <a:ext cx="609600" cy="9525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D97706"/>
          </a:solidFill>
          <a:ln xmlns:a="http://schemas.openxmlformats.org/drawingml/2006/main" w="0">
            <a:solidFill>
              <a:srgbClr val="D97706"/>
            </a:solidFill>
            <a:prstDash val="solid"/>
          </a:ln>
        </p:spPr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5EDF14AF-B70C-416C-98CE-16E67607CFC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1809750"/>
            <a:ext cx="2990850" cy="3238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r>
              <a:rPr sz="1800" b="1">
                <a:solidFill>
                  <a:srgbClr val="0F172A"/>
                </a:solidFill>
              </a:rPr>
              <a:t>Readout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5299B1CC-187F-4E53-8B3F-EF7AE71608D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2228850"/>
            <a:ext cx="2990850" cy="3524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r>
              <a:rPr sz="1200" b="0">
                <a:solidFill>
                  <a:srgbClr val="334155"/>
                </a:solidFill>
              </a:rPr>
              <a:t>ARR reached $1688k and qualified pipeline rose to $1335k, keeping the Q3 growth story credible.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rPr sz="1200" b="0">
                <a:solidFill>
                  <a:srgbClr val="334155"/>
                </a:solidFill>
              </a:rPr>
              <a:t>Net burn improved to $226k and NRR moved to 114%, which supports the efficiency narrative leadership wants to maintain.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rPr sz="1200" b="0">
                <a:solidFill>
                  <a:srgbClr val="334155"/>
                </a:solidFill>
              </a:rPr>
              <a:t>The main risk remains mobile reliability and enterprise deal friction around security review turnaround.</a:t>
            </a:r>
          </a:p>
        </p:txBody>
      </p:sp>
      <p:graphicFrame>
        <p:nvGraphicFramePr>
          <p:cNvPr id="9" name="Chart"/>
          <p:cNvGraphicFramePr/>
          <p:nvPr/>
        </p:nvGraphicFramePr>
        <p:xfrm>
          <a:off xmlns:a="http://schemas.openxmlformats.org/drawingml/2006/main" x="4476750" y="1428750"/>
          <a:ext xmlns:a="http://schemas.openxmlformats.org/drawingml/2006/main" cx="6667500" cy="4000500"/>
        </p:xfrm>
        <a:graphic xmlns:a="http://schemas.openxmlformats.org/drawingml/2006/main">
          <a:graphicData uri="http://schemas.openxmlformats.org/drawingml/2006/chart">
            <c:chart xmlns:r="http://schemas.openxmlformats.org/officeDocument/2006/relationships" xmlns:c="http://schemas.openxmlformats.org/drawingml/2006/chart" r:id="R2daf45ea62114f47"/>
          </a:graphicData>
        </a:graphic>
      </p:graphicFrame>
    </p:spTree>
    <p:extLst>
      <p:ext uri="{BB962C8B-B14F-4D97-AF65-F5344CB8AC3E}">
        <p14:creationId xmlns:p14="http://schemas.microsoft.com/office/powerpoint/2010/main" val="2043578373"/>
      </p:ext>
    </p:extLst>
  </p:cSld>
</p:sld>
</file>

<file path=ppt/slides/slide4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Slide Number Placeholder 5">
            <a:extLst xmlns:a="http://schemas.openxmlformats.org/drawingml/2006/main">
              <a:ext uri="{FF2B5EF4-FFF2-40B4-BE49-F238E27FC236}">
                <a16:creationId xmlns:a16="http://schemas.microsoft.com/office/drawing/2014/main" id="{2ABBF3EC-52F3-4D5D-88DE-CE0FBD0B3A4D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>
          <a:xfrm xmlns:a="http://schemas.openxmlformats.org/drawingml/2006/main">
            <a:off x="1524000" y="1122363"/>
            <a:ext cx="9144000" cy="2387600"/>
          </a:xfr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/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3F27A46D-54B4-4185-83FE-503D4F9B5EE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8FAFC"/>
          </a:solidFill>
          <a:ln xmlns:a="http://schemas.openxmlformats.org/drawingml/2006/main" w="0">
            <a:solidFill>
              <a:srgbClr val="F8FAFC"/>
            </a:solidFill>
            <a:prstDash val="solid"/>
          </a:ln>
        </p:spPr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42A1DA23-EEC9-4CAE-98BA-692D5810657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171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BE123C"/>
          </a:solidFill>
          <a:ln xmlns:a="http://schemas.openxmlformats.org/drawingml/2006/main" w="0">
            <a:solidFill>
              <a:srgbClr val="BE123C"/>
            </a:solidFill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C36531FD-9415-48B6-AE97-705CB9398F8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2950" y="685800"/>
            <a:ext cx="6858000" cy="381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r>
              <a:rPr sz="2250" b="1">
                <a:solidFill>
                  <a:srgbClr val="0F172A"/>
                </a:solidFill>
              </a:rPr>
              <a:t>Highlights and risks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1B112B12-E777-49DA-B459-76772FC72CE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2950" y="1428750"/>
            <a:ext cx="4953000" cy="4286250"/>
          </a:xfrm>
          <a:prstGeom xmlns:a="http://schemas.openxmlformats.org/drawingml/2006/main" prst="roundRect">
            <a:avLst>
              <a:gd name="adj" fmla="val 1778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CBD5E1"/>
            </a:solidFill>
            <a:prstDash val="solid"/>
          </a:ln>
        </p:spPr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1BEE6D06-4803-436D-B2DA-20F227EECEC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1600200"/>
            <a:ext cx="609600" cy="9525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0F766E"/>
          </a:solidFill>
          <a:ln xmlns:a="http://schemas.openxmlformats.org/drawingml/2006/main" w="0">
            <a:solidFill>
              <a:srgbClr val="0F766E"/>
            </a:solidFill>
            <a:prstDash val="solid"/>
          </a:ln>
        </p:spPr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049A3634-FA94-4E1A-A6AC-F22C0FA4693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1809750"/>
            <a:ext cx="4610100" cy="3238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r>
              <a:rPr sz="1800" b="1">
                <a:solidFill>
                  <a:srgbClr val="0F172A"/>
                </a:solidFill>
              </a:rPr>
              <a:t>Highlights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06BE58E4-860F-4228-8549-C61E2E15D20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2228850"/>
            <a:ext cx="4610100" cy="3333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r>
              <a:rPr sz="1200" b="0">
                <a:solidFill>
                  <a:srgbClr val="334155"/>
                </a:solidFill>
              </a:rPr>
              <a:t>1. Growth team rolled out the onboarding checklist experiment to 40% of new workspaces and activation improved by 6 percentage points in the pilot group.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rPr sz="1200" b="0">
                <a:solidFill>
                  <a:srgbClr val="334155"/>
                </a:solidFill>
              </a:rPr>
              <a:t>2. Northstar expanded to an annual plan, adding $48k ARR after the joint sales and success push closed this week.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rPr sz="1200" b="0">
                <a:solidFill>
                  <a:srgbClr val="334155"/>
                </a:solidFill>
              </a:rPr>
              <a:t>3. Support backlog dropped below 24 hours for the first time in six weeks after the triage rotation change.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E461E575-C320-4D5B-A439-DEE7E54C807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0" y="1428750"/>
            <a:ext cx="5353050" cy="4286250"/>
          </a:xfrm>
          <a:prstGeom xmlns:a="http://schemas.openxmlformats.org/drawingml/2006/main" prst="roundRect">
            <a:avLst>
              <a:gd name="adj" fmla="val 1778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CBD5E1"/>
            </a:solidFill>
            <a:prstDash val="solid"/>
          </a:ln>
        </p:spPr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2B128BB1-0E5F-4800-B12F-13AE30F835F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67450" y="1600200"/>
            <a:ext cx="609600" cy="9525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BE123C"/>
          </a:solidFill>
          <a:ln xmlns:a="http://schemas.openxmlformats.org/drawingml/2006/main" w="0">
            <a:solidFill>
              <a:srgbClr val="BE123C"/>
            </a:solidFill>
            <a:prstDash val="solid"/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305C75F2-BE3F-4B3E-A81A-AF670790A5D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67450" y="1809750"/>
            <a:ext cx="5010150" cy="3238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r>
              <a:rPr sz="1800" b="1">
                <a:solidFill>
                  <a:srgbClr val="0F172A"/>
                </a:solidFill>
              </a:rPr>
              <a:t>Risks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D6971E39-D559-4D91-9095-C133A834373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67450" y="2228850"/>
            <a:ext cx="5010150" cy="3333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r>
              <a:rPr sz="1200" b="0">
                <a:solidFill>
                  <a:srgbClr val="334155"/>
                </a:solidFill>
              </a:rPr>
              <a:t>1. Two enterprise deals are blocked on security questionnaire turnaround and legal review.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rPr sz="1200" b="0">
                <a:solidFill>
                  <a:srgbClr val="334155"/>
                </a:solidFill>
              </a:rPr>
              <a:t>2. The iOS 3.12 release introduced a crash regression affecting 4.7% of mobile sessions.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rPr sz="1200" b="0">
                <a:solidFill>
                  <a:srgbClr val="334155"/>
                </a:solidFill>
              </a:rPr>
              <a:t>3. Finance flagged June vendor spend as slightly ahead of plan because of the analytics infrastructure migration.</a:t>
            </a:r>
          </a:p>
        </p:txBody>
      </p:sp>
    </p:spTree>
    <p:extLst>
      <p:ext uri="{BB962C8B-B14F-4D97-AF65-F5344CB8AC3E}">
        <p14:creationId xmlns:p14="http://schemas.microsoft.com/office/powerpoint/2010/main" val="1889012906"/>
      </p:ext>
    </p:extLst>
  </p:cSld>
</p:sld>
</file>

<file path=ppt/slides/slide5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Slide Number Placeholder 5">
            <a:extLst xmlns:a="http://schemas.openxmlformats.org/drawingml/2006/main">
              <a:ext uri="{FF2B5EF4-FFF2-40B4-BE49-F238E27FC236}">
                <a16:creationId xmlns:a16="http://schemas.microsoft.com/office/drawing/2014/main" id="{2ABBF3EC-52F3-4D5D-88DE-CE0FBD0B3A4D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>
          <a:xfrm xmlns:a="http://schemas.openxmlformats.org/drawingml/2006/main">
            <a:off x="1524000" y="1122363"/>
            <a:ext cx="9144000" cy="2387600"/>
          </a:xfr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/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2032E1FA-D343-4053-B273-33DCC393200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8FAFC"/>
          </a:solidFill>
          <a:ln xmlns:a="http://schemas.openxmlformats.org/drawingml/2006/main" w="0">
            <a:solidFill>
              <a:srgbClr val="F8FAFC"/>
            </a:solidFill>
            <a:prstDash val="solid"/>
          </a:ln>
        </p:spPr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AEF8E1AD-0027-441C-9EB2-8C498C27048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171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563EB"/>
          </a:solidFill>
          <a:ln xmlns:a="http://schemas.openxmlformats.org/drawingml/2006/main" w="0">
            <a:solidFill>
              <a:srgbClr val="2563EB"/>
            </a:solidFill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1E2280F4-7D4D-43E1-BDEB-4A5662AAA98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2950" y="685800"/>
            <a:ext cx="6858000" cy="381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r>
              <a:rPr sz="2250" b="1">
                <a:solidFill>
                  <a:srgbClr val="0F172A"/>
                </a:solidFill>
              </a:rPr>
              <a:t>Immediate asks and next-week focus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2C700C52-5206-40BF-810D-E9FA9BD5589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2950" y="1428750"/>
            <a:ext cx="4953000" cy="4000500"/>
          </a:xfrm>
          <a:prstGeom xmlns:a="http://schemas.openxmlformats.org/drawingml/2006/main" prst="roundRect">
            <a:avLst>
              <a:gd name="adj" fmla="val 1905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CBD5E1"/>
            </a:solidFill>
            <a:prstDash val="solid"/>
          </a:ln>
        </p:spPr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A3D9F26E-1577-4D31-95A2-5F79EE08470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1600200"/>
            <a:ext cx="609600" cy="9525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D97706"/>
          </a:solidFill>
          <a:ln xmlns:a="http://schemas.openxmlformats.org/drawingml/2006/main" w="0">
            <a:solidFill>
              <a:srgbClr val="D97706"/>
            </a:solidFill>
            <a:prstDash val="solid"/>
          </a:ln>
        </p:spPr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4C0E209A-E9E3-4E78-AAB7-290946D24E0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1809750"/>
            <a:ext cx="4610100" cy="3238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r>
              <a:rPr sz="1800" b="1">
                <a:solidFill>
                  <a:srgbClr val="0F172A"/>
                </a:solidFill>
              </a:rPr>
              <a:t>Immediate asks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94BD946C-CF7D-4849-99AF-47378B2ADCC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2228850"/>
            <a:ext cx="4610100" cy="304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r>
              <a:rPr sz="1200" b="0">
                <a:solidFill>
                  <a:srgbClr val="334155"/>
                </a:solidFill>
              </a:rPr>
              <a:t>1. Approve short-term legal support for enterprise security reviews.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rPr sz="1200" b="0">
                <a:solidFill>
                  <a:srgbClr val="334155"/>
                </a:solidFill>
              </a:rPr>
              <a:t>2. Prioritize the mobile crash hotfix ahead of lower-priority roadmap work.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rPr sz="1200" b="0">
                <a:solidFill>
                  <a:srgbClr val="334155"/>
                </a:solidFill>
              </a:rPr>
              <a:t>3. The board will care most about whether enterprise pipeline supports the Q3 revenue target.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rPr sz="1200" b="0">
                <a:solidFill>
                  <a:srgbClr val="334155"/>
                </a:solidFill>
              </a:rPr>
              <a:t>4. Keep net burn under $230k while continuing to invest in product reliability.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7AA1977D-13E5-410D-BDDF-E7CD8541801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0" y="1428750"/>
            <a:ext cx="5353050" cy="4000500"/>
          </a:xfrm>
          <a:prstGeom xmlns:a="http://schemas.openxmlformats.org/drawingml/2006/main" prst="roundRect">
            <a:avLst>
              <a:gd name="adj" fmla="val 1905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CBD5E1"/>
            </a:solidFill>
            <a:prstDash val="solid"/>
          </a:ln>
        </p:spPr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7CDE0BFF-928E-4FF4-A091-BA87FBE2A7A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67450" y="1600200"/>
            <a:ext cx="609600" cy="9525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2563EB"/>
          </a:solidFill>
          <a:ln xmlns:a="http://schemas.openxmlformats.org/drawingml/2006/main" w="0">
            <a:solidFill>
              <a:srgbClr val="2563EB"/>
            </a:solidFill>
            <a:prstDash val="solid"/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3C4DD9B1-CDEE-48FC-972B-02D08B3EE36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67450" y="1809750"/>
            <a:ext cx="5010150" cy="3238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r>
              <a:rPr sz="1800" b="1">
                <a:solidFill>
                  <a:srgbClr val="0F172A"/>
                </a:solidFill>
              </a:rPr>
              <a:t>Next week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80A36D49-6559-4FEC-B95E-51D23BDCD8C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67450" y="2228850"/>
            <a:ext cx="5010150" cy="304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r>
              <a:rPr sz="1200" b="0">
                <a:solidFill>
                  <a:srgbClr val="334155"/>
                </a:solidFill>
              </a:rPr>
              <a:t>1. Close the mobile crash hotfix and confirm session stability returns to baseline.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rPr sz="1200" b="0">
                <a:solidFill>
                  <a:srgbClr val="334155"/>
                </a:solidFill>
              </a:rPr>
              <a:t>2. Unblock enterprise security reviews with legal support and tighter turnaround ownership.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rPr sz="1200" b="0">
                <a:solidFill>
                  <a:srgbClr val="334155"/>
                </a:solidFill>
              </a:rPr>
              <a:t>3. Keep board-facing messaging anchored in pipeline credibility, burn discipline, and enterprise readiness.</a:t>
            </a:r>
          </a:p>
        </p:txBody>
      </p:sp>
    </p:spTree>
    <p:extLst>
      <p:ext uri="{BB962C8B-B14F-4D97-AF65-F5344CB8AC3E}">
        <p14:creationId xmlns:p14="http://schemas.microsoft.com/office/powerpoint/2010/main" val="311834423"/>
      </p:ext>
    </p:extLst>
  </p:cSld>
</p:sld>
</file>

<file path=ppt/theme/theme1.xml><?xml version="1.0" encoding="utf-8"?>
<a:theme xmlns:a="http://schemas.openxmlformats.org/drawingml/2006/main" name="Executive Briefing Demo">
  <a:themeElements>
    <a:clrScheme name="Executive Briefing Demo">
      <a:accent1>
        <a:srgbClr val="2563EB"/>
      </a:accent1>
      <a:accent2>
        <a:srgbClr val="0F766E"/>
      </a:accent2>
      <a:accent3>
        <a:srgbClr val="D97706"/>
      </a:accent3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Executive Briefing Demo">
      <a:fillStyleLst>
        <a:solidFill>
          <a:schemeClr val="phClr"/>
        </a:solidFill>
        <a:solidFill>
          <a:schemeClr val="dk1"/>
        </a:solidFill>
        <a:solidFill>
          <a:schemeClr val="accent1"/>
        </a:soli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docProps/app.xml><?xml version="1.0" encoding="utf-8"?>
<ap:Properties xmlns:ap="http://schemas.openxmlformats.org/officeDocument/2006/extended-properties">
  <ap:Application>Walnut Exporter</ap:Application>
  <ap:PresentationFormat>Converted Presentation</ap:PresentationFormat>
  <ap:Slides>0</ap:Slides>
  <ap:Notes>0</ap:Notes>
  <ap:HiddenSlides>0</ap:HiddenSlides>
  <ap:SharedDoc>false</ap:SharedDoc>
  <ap:DocSecurity>0</ap:DocSecurity>
</ap:Properties>
</file>

<file path=docProps/core.xml><?xml version="1.0" encoding="utf-8"?>
<coreProperties xmlns:dc="http://purl.org/dc/elements/1.1/" xmlns:dcterms="http://purl.org/dc/terms/" xmlns:xsi="http://www.w3.org/2001/XMLSchema-instance" xmlns="http://schemas.openxmlformats.org/package/2006/metadata/core-properties">
  <dc:creator>Walnut Exporter</dc:creator>
  <lastModifiedBy>Walnut Exporter</lastModifiedBy>
  <dc:title>Presentation</dc:title>
  <dcterms:created xsi:type="dcterms:W3CDTF">2026-04-18T00:32:04.2920000Z</dcterms:created>
  <dcterms:modified xsi:type="dcterms:W3CDTF">2026-04-18T00:32:04.2920000Z</dcterms:modified>
</coreProperties>
</file>