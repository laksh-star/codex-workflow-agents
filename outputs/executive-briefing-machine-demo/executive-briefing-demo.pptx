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5afcfd5569495f" /><Relationship Type="http://schemas.openxmlformats.org/officeDocument/2006/relationships/extended-properties" Target="/docProps/app.xml" Id="Ra9426d553ba94016" /><Relationship Type="http://schemas.openxmlformats.org/officeDocument/2006/relationships/officeDocument" Target="/ppt/presentation.xml" Id="R6dc0cf7d950641b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574bd1114e5435b"/>
  </p:sldMasterIdLst>
  <p:notesMasterIdLst>
    <p:notesMasterId xmlns:r="http://schemas.openxmlformats.org/officeDocument/2006/relationships" r:id="R860361c4814343de"/>
  </p:notesMasterIdLst>
  <p:sldIdLst>
    <p:sldId xmlns:r="http://schemas.openxmlformats.org/officeDocument/2006/relationships" id="256" r:id="Re17f0cee1d364aa9"/>
    <p:sldId xmlns:r="http://schemas.openxmlformats.org/officeDocument/2006/relationships" id="257" r:id="Rc3eec21ec81347bb"/>
    <p:sldId xmlns:r="http://schemas.openxmlformats.org/officeDocument/2006/relationships" id="258" r:id="Rc812a899102848eb"/>
    <p:sldId xmlns:r="http://schemas.openxmlformats.org/officeDocument/2006/relationships" id="259" r:id="R0a8c95daf5e14a86"/>
    <p:sldId xmlns:r="http://schemas.openxmlformats.org/officeDocument/2006/relationships" id="260" r:id="R48cf364a4ee64c09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74bd1114e5435b" /><Relationship Type="http://schemas.openxmlformats.org/officeDocument/2006/relationships/theme" Target="/ppt/theme/theme1.xml" Id="Red463d059275411c" /><Relationship Type="http://schemas.openxmlformats.org/officeDocument/2006/relationships/notesMaster" Target="/ppt/notesMasters/notesMaster1.xml" Id="R860361c4814343de" /><Relationship Type="http://schemas.openxmlformats.org/officeDocument/2006/relationships/presProps" Target="/ppt/presProps.xml" Id="R113653ebb77d4409" /><Relationship Type="http://schemas.openxmlformats.org/officeDocument/2006/relationships/viewProps" Target="/ppt/viewProps.xml" Id="R1435aaab972343f3" /><Relationship Type="http://schemas.openxmlformats.org/officeDocument/2006/relationships/tableStyles" Target="/ppt/tableStyles.xml" Id="R36504ee84989495d" /><Relationship Type="http://schemas.openxmlformats.org/officeDocument/2006/relationships/slide" Target="/ppt/slides/slide1.xml" Id="Re17f0cee1d364aa9" /><Relationship Type="http://schemas.openxmlformats.org/officeDocument/2006/relationships/slide" Target="/ppt/slides/slide2.xml" Id="Rc3eec21ec81347bb" /><Relationship Type="http://schemas.openxmlformats.org/officeDocument/2006/relationships/slide" Target="/ppt/slides/slide3.xml" Id="Rc812a899102848eb" /><Relationship Type="http://schemas.openxmlformats.org/officeDocument/2006/relationships/slide" Target="/ppt/slides/slide4.xml" Id="R0a8c95daf5e14a86" /><Relationship Type="http://schemas.openxmlformats.org/officeDocument/2006/relationships/slide" Target="/ppt/slides/slide5.xml" Id="R48cf364a4ee64c0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23717fea9f640f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Executive Briefing Demo">
  <a:themeElements>
    <a:clrScheme name="Executive Briefing Demo">
      <a:accent1>
        <a:srgbClr val="2563EB"/>
      </a:accent1>
      <a:accent2>
        <a:srgbClr val="0F766E"/>
      </a:accent2>
      <a:accent3>
        <a:srgbClr val="D97706"/>
      </a:accent3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xecutive Briefing Demo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e3f960782bb4bc8" /><Relationship Type="http://schemas.openxmlformats.org/officeDocument/2006/relationships/notesMaster" Target="/ppt/notesMasters/notesMaster1.xml" Id="Ra510a29a270941e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aa9cfbf010e423d" /><Relationship Type="http://schemas.openxmlformats.org/officeDocument/2006/relationships/notesMaster" Target="/ppt/notesMasters/notesMaster1.xml" Id="Rb998146379db438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2315f21763d407b" /><Relationship Type="http://schemas.openxmlformats.org/officeDocument/2006/relationships/notesMaster" Target="/ppt/notesMasters/notesMaster1.xml" Id="R03e8408bf32146a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a90188f28298425e" /><Relationship Type="http://schemas.openxmlformats.org/officeDocument/2006/relationships/notesMaster" Target="/ppt/notesMasters/notesMaster1.xml" Id="R9af6783a39434c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5656ceb34a74f82" /><Relationship Type="http://schemas.openxmlformats.org/officeDocument/2006/relationships/notesMaster" Target="/ppt/notesMasters/notesMaster1.xml" Id="R32436e8dc35841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7f45fbc1314e5d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Title 1">
            <a:extLst xmlns:a="http://schemas.openxmlformats.org/drawingml/2006/main">
              <a:ext uri="{FF2B5EF4-FFF2-40B4-BE49-F238E27FC236}">
                <a16:creationId xmlns:a16="http://schemas.microsoft.com/office/drawing/2014/main" id="{385831EB-902E-43CB-AC60-FB4F8CF4767B}"/>
              </a:ext>
            </a:extLst>
          </p:cNvPr>
          <p:cNvSpPr/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/>
        </p:txBody>
      </p:sp>
      <p:sp>
        <p:nvSpPr>
          <p:cNvPr id="2" name="Subtitle 2">
            <a:extLst xmlns:a="http://schemas.openxmlformats.org/drawingml/2006/main">
              <a:ext uri="{FF2B5EF4-FFF2-40B4-BE49-F238E27FC236}">
                <a16:creationId xmlns:a16="http://schemas.microsoft.com/office/drawing/2014/main" id="{687E4003-8BEE-4A48-B07B-5FE79CF5102F}"/>
              </a:ext>
            </a:extLst>
          </p:cNvPr>
          <p:cNvSpPr/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/>
        </p:txBody>
      </p:sp>
      <p:sp>
        <p:nvSpPr>
          <p:cNvPr id="3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1A5CEAE-8823-4331-AEB0-8BE9D89A24AA}"/>
              </a:ext>
            </a:extLst>
          </p:cNvPr>
          <p:cNvSpPr/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5C67A3B-809A-4203-A639-C838BCC49932}"/>
              </a:ext>
            </a:extLst>
          </p:cNvPr>
          <p:cNvSpPr/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D223293-109B-42C6-8AB0-D8D7CB124344}"/>
              </a:ext>
            </a:extLst>
          </p:cNvPr>
          <p:cNvSpPr/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77e2c2c3a3104304" /><Relationship Type="http://schemas.openxmlformats.org/officeDocument/2006/relationships/slideLayout" Target="/ppt/slideLayouts/slideLayout2.xml" Id="R4102c960ef20449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487AE93-D8D1-4855-86E9-DA422CFCDB8D}"/>
              </a:ext>
            </a:extLst>
          </p:cNvPr>
          <p:cNvSpPr/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102c960ef20449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2742c3554154f30" /><Relationship Type="http://schemas.openxmlformats.org/officeDocument/2006/relationships/notesSlide" Target="/ppt/notesSlides/notesSlide1.xml" Id="Rd42eaac24ccf45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43c7f9bf3ca4b12" /><Relationship Type="http://schemas.openxmlformats.org/officeDocument/2006/relationships/notesSlide" Target="/ppt/notesSlides/notesSlide2.xml" Id="Ra9a702f8386e44d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65dd48d13f0e4aba" /><Relationship Type="http://schemas.openxmlformats.org/officeDocument/2006/relationships/chart" Target="/ppt/slides/charts/chart1.xml" Id="R63e2389fe59a4c46" /><Relationship Type="http://schemas.openxmlformats.org/officeDocument/2006/relationships/notesSlide" Target="/ppt/notesSlides/notesSlide3.xml" Id="Ra80a25f18e13467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1c4fde806f08488a" /><Relationship Type="http://schemas.openxmlformats.org/officeDocument/2006/relationships/notesSlide" Target="/ppt/notesSlides/notesSlide4.xml" Id="Rc52baeeda09340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fb7aa6d48014011" /><Relationship Type="http://schemas.openxmlformats.org/officeDocument/2006/relationships/notesSlide" Target="/ppt/notesSlides/notesSlide5.xml" Id="Rca0960be3b7f40ea" /></Relationships>
</file>

<file path=ppt/slides/charts/chart1.xml><?xml version="1.0" encoding="utf-8"?>
<c:chartSpace xmlns:c="http://schemas.openxmlformats.org/drawingml/2006/chart">
  <c:lang val="en-US"/>
  <c:roundedCorners val="0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500">
                <a:solidFill>
                  <a:srgbClr val="0F172A"/>
                </a:solidFill>
                <a:latin typeface="Poppins"/>
                <a:ea typeface="Poppins"/>
                <a:cs typeface="Poppins"/>
              </a:rPr>
              <a:t>ARR and Qualified Pipeline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500">
              <a:solidFill>
                <a:srgbClr val="0F172A"/>
              </a:solidFill>
              <a:latin typeface="Poppins"/>
              <a:ea typeface="Poppins"/>
              <a:cs typeface="Poppins"/>
            </a:defRPr>
          </a:pPr>
        </a:p>
      </c:txPr>
    </c:title>
    <c:autoTitleDeleted val="0"/>
    <c:view3D/>
    <c:plotArea>
      <c:layout/>
      <c:lineChart>
        <c:grouping val="standard"/>
        <c:varyColors val="0"/>
        <c:ser>
          <c:idx val="0"/>
          <c:order val="0"/>
          <c:tx>
            <c:v>ARR ($k)</c:v>
          </c:tx>
          <c:spPr>
            <a:solidFill xmlns:a="http://schemas.openxmlformats.org/drawingml/2006/main">
              <a:srgbClr val="2563EB"/>
            </a:solidFill>
            <a:ln xmlns:a="http://schemas.openxmlformats.org/drawingml/2006/main" w="28575">
              <a:solidFill>
                <a:srgbClr val="2563EB"/>
              </a:solidFill>
              <a:prstDash val="solid"/>
            </a:ln>
          </c:spPr>
          <c:marker/>
          <c:cat>
            <c:strLit>
              <c:ptCount val="6"/>
              <c:pt idx="0">
                <c:v>Jan 26</c:v>
              </c:pt>
              <c:pt idx="1">
                <c:v>Feb 26</c:v>
              </c:pt>
              <c:pt idx="2">
                <c:v>Mar 26</c:v>
              </c:pt>
              <c:pt idx="3">
                <c:v>Apr 26</c:v>
              </c:pt>
              <c:pt idx="4">
                <c:v>May 26</c:v>
              </c:pt>
              <c:pt idx="5">
                <c:v>Jun 26</c:v>
              </c:pt>
            </c:strLit>
          </c:cat>
          <c:val>
            <c:numLit>
              <c:formatCode/>
              <c:ptCount val="6"/>
              <c:pt idx="0">
                <c:v>612</c:v>
              </c:pt>
              <c:pt idx="1">
                <c:v>648</c:v>
              </c:pt>
              <c:pt idx="2">
                <c:v>691</c:v>
              </c:pt>
              <c:pt idx="3">
                <c:v>744</c:v>
              </c:pt>
              <c:pt idx="4">
                <c:v>802</c:v>
              </c:pt>
              <c:pt idx="5">
                <c:v>869</c:v>
              </c:pt>
            </c:numLit>
          </c:val>
          <c:smooth val="0"/>
        </c:ser>
        <c:ser>
          <c:idx val="1"/>
          <c:order val="1"/>
          <c:tx>
            <c:v>Qualified Pipeline ($k)</c:v>
          </c:tx>
          <c:spPr>
            <a:solidFill xmlns:a="http://schemas.openxmlformats.org/drawingml/2006/main">
              <a:srgbClr val="0F766E"/>
            </a:solidFill>
            <a:ln xmlns:a="http://schemas.openxmlformats.org/drawingml/2006/main" w="28575">
              <a:solidFill>
                <a:srgbClr val="0F766E"/>
              </a:solidFill>
              <a:prstDash val="solid"/>
            </a:ln>
          </c:spPr>
          <c:marker/>
          <c:cat>
            <c:strLit>
              <c:ptCount val="6"/>
              <c:pt idx="0">
                <c:v>Jan 26</c:v>
              </c:pt>
              <c:pt idx="1">
                <c:v>Feb 26</c:v>
              </c:pt>
              <c:pt idx="2">
                <c:v>Mar 26</c:v>
              </c:pt>
              <c:pt idx="3">
                <c:v>Apr 26</c:v>
              </c:pt>
              <c:pt idx="4">
                <c:v>May 26</c:v>
              </c:pt>
              <c:pt idx="5">
                <c:v>Jun 26</c:v>
              </c:pt>
            </c:strLit>
          </c:cat>
          <c:val>
            <c:numLit>
              <c:formatCode/>
              <c:ptCount val="6"/>
              <c:pt idx="0">
                <c:v>455</c:v>
              </c:pt>
              <c:pt idx="1">
                <c:v>492</c:v>
              </c:pt>
              <c:pt idx="2">
                <c:v>548</c:v>
              </c:pt>
              <c:pt idx="3">
                <c:v>612</c:v>
              </c:pt>
              <c:pt idx="4">
                <c:v>688</c:v>
              </c:pt>
              <c:pt idx="5">
                <c:v>772</c:v>
              </c:pt>
            </c:numLit>
          </c:val>
          <c:smooth val="0"/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Lato"/>
                <a:ea typeface="Lato"/>
                <a:cs typeface="Lato"/>
              </a:defRPr>
            </a:pPr>
          </a:p>
        </c:txPr>
        <c:crossAx val="48672768"/>
        <c:crosses val="autoZero"/>
        <c:lblAlgn val="ctr"/>
        <c:lblOffset val="100"/>
        <c:noMultiLvlLbl val="0"/>
      </c:catAx>
      <c:valAx>
        <c:axId val="48672768"/>
        <c:scaling>
          <c:orientation val="minMax"/>
        </c:scaling>
        <c:delete val="1"/>
        <c:axPos val="l"/>
        <c:numFmt formatCode="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666666"/>
                </a:solidFill>
                <a:latin typeface="Lato"/>
                <a:ea typeface="Lato"/>
                <a:cs typeface="Lato"/>
              </a:defRPr>
            </a:pPr>
          </a:p>
        </c:txPr>
        <c:crossAx val="48650112"/>
        <c:crosses val="autoZero"/>
        <c:crossBetween val="between"/>
      </c:valAx>
      <c:spPr>
        <a:solidFill xmlns:a="http://schemas.openxmlformats.org/drawingml/2006/main">
          <a:srgbClr val="FFFFFF"/>
        </a:solidFill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>
              <a:latin typeface="Lato"/>
              <a:ea typeface="Lato"/>
              <a:cs typeface="Lato"/>
            </a:defRPr>
          </a:pPr>
        </a:p>
      </c:txPr>
    </c:legend>
    <c:plotVisOnly val="1"/>
  </c:chart>
</c:chartSpace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D223293-109B-42C6-8AB0-D8D7CB1243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3781F0-8FCA-4AFC-9FE5-3D26C8255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F0FA05-4A0D-4AEB-84B4-12A5CDF88A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FE4868-D9F6-4FD7-9490-42069C3E7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838200"/>
            <a:ext cx="70485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550" b="1">
                <a:solidFill>
                  <a:srgbClr val="0F172A"/>
                </a:solidFill>
              </a:rPr>
              <a:t>Executive Briefing Machine Demo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EB8F67-3244-4E0D-BC38-D3BF1E974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7239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0">
                <a:solidFill>
                  <a:srgbClr val="334155"/>
                </a:solidFill>
              </a:rPr>
              <a:t>Revenue quality and operating discipline improved this month, with delivery execution still the main watch item.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B44C51-09E6-4371-B173-27C7422EF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575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B0D9F7-8B40-46D5-8D14-9530F8580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28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34DA6C-24D6-4C5B-8CD5-87C35ED22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Period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5EC46EA-BC00-4CDB-BA19-6BDE03341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57600"/>
            <a:ext cx="29908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May 2026 to Jun 2026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Generated from sample collaboration-style inputs with connector-ready adapters.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E550C9E-1C1C-414C-B619-8EFC064E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857500"/>
            <a:ext cx="3333750" cy="2190750"/>
          </a:xfrm>
          <a:prstGeom xmlns:a="http://schemas.openxmlformats.org/drawingml/2006/main" prst="roundRect">
            <a:avLst>
              <a:gd name="adj" fmla="val 34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3AACCB-17D4-454E-9D8E-697E7E07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028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4590EFF-B442-4EF2-B8B4-C1507FFAB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23850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Operating readout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7C1202-5A4B-4720-BEF7-A5E0F17BF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657600"/>
            <a:ext cx="2990850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ARR reached $869k and qualified pipeline rose to $772k, supporting the story that the firm is converting bespoke work into a more repeatable advisory business.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Net burn improved to $121k and NRR moved to 111%, which reinforces the case for disciplined growth without overextending delivery capacity.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B69772-D420-4421-9CCD-5D0490C88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714500"/>
            <a:ext cx="3429000" cy="3333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587892-2EA1-4699-A78C-A114711CA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0C7EBAE-CA1F-4CC2-B707-7E7BAB9E0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095500"/>
            <a:ext cx="3086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Watch item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D084D67-CF0B-441B-8CEC-D46B1A6EB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514600"/>
            <a:ext cx="308610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The main execution risk is one client workshop is blocked until the data room access issue is resolved. • Delivery confidence remains high, but the team needs a named owner for exec stakeholder scheduling. • If we do not unblock the security questionnaire by Friday, the healthcare advisory kickoff will slip by at least one week.</a:t>
            </a:r>
          </a:p>
        </p:txBody>
      </p:sp>
    </p:spTree>
    <p:extLst>
      <p:ext uri="{BB962C8B-B14F-4D97-AF65-F5344CB8AC3E}">
        <p14:creationId xmlns:p14="http://schemas.microsoft.com/office/powerpoint/2010/main" val="24574817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D223293-109B-42C6-8AB0-D8D7CB1243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BC80C4-C203-4139-BAF2-6C79F1643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84AD2D-1758-4D96-8EA7-0F3C012F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28EA79-649F-4CCF-9FFE-CD21CD1D2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KPI snapshot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D455B3C-E4D7-44B9-AC9D-1BFE45BFA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8461AA-667F-4468-B339-B96A3F3E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F8D4C2-45E7-4D92-9C4E-633298962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ARR: $869k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FBE6E2-3E37-4733-A785-DBB929FE6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+67k vs last month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D17847-83DB-4AAE-B21E-6BB2B6739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422620-C1DA-4027-BA06-1BD67F3C4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F137EC0-EE84-4CA2-A4FE-BA02F6C77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Qualified Pipeline: $772k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E0DABDB-27B3-4FD6-8D7D-F8597276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+84k vs last month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92734BE-877E-42FB-9876-CDA90276D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4287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03890E-DBE1-478C-965C-60FF51201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C5EA1E-F4B0-4542-A7EC-5444E244D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8097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Net Burn: $121k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6DD502A-3CE5-466E-9ED0-D03131AE5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2288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-5k vs last month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21054D-8A80-4969-9A6D-253F662B5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5242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448ABD-5C64-439D-8DA6-105F3D569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957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98E9D27-9703-4480-881A-E5BE972EC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052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NRR: 111%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7EA8C3-E65D-43BF-A402-4BDC88A0A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243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+2 pts vs last month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BC893CF-0274-4922-8856-7CFD3002D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524250"/>
            <a:ext cx="3238500" cy="1714500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84484A-8CE3-4ADC-A6EB-2D8B403FC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6957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9F4486-806E-434A-B2A1-49611B347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905250"/>
            <a:ext cx="28956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Sev-1 Incidents: 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462FAB2-F511-4784-9D17-334777859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4324350"/>
            <a:ext cx="28956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0 incident improvement</a:t>
            </a:r>
          </a:p>
        </p:txBody>
      </p:sp>
    </p:spTree>
    <p:extLst>
      <p:ext uri="{BB962C8B-B14F-4D97-AF65-F5344CB8AC3E}">
        <p14:creationId xmlns:p14="http://schemas.microsoft.com/office/powerpoint/2010/main" val="5729772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D223293-109B-42C6-8AB0-D8D7CB1243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9676BBA-214D-4F89-B244-E137D6A3F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2081A1-99DB-4842-880C-1016E5FDF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55E503-DAFF-4836-B692-13172814C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Growth and pipeline trend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30EF7B-8CDF-4451-8DF9-46763946A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3333750" cy="4476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6DE600-A906-4518-8205-7AD7F8B0A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1958C0-935E-48C3-9C1B-E5ECBFCF0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29908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Readout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39058D4-E00D-4C27-8D6C-550F1891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299085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ARR reached $869k and qualified pipeline rose to $772k, supporting the story that the firm is converting bespoke work into a more repeatable advisory business.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Net burn improved to $121k and NRR moved to 111%, which reinforces the case for disciplined growth without overextending delivery capacity.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The main execution risk is one client workshop is blocked until the data room access issue is resolved. • Delivery confidence remains high, but the team needs a named owner for exec stakeholder scheduling. • If we do not unblock the security questionnaire by Friday, the healthcare advisory kickoff will slip by at least one week.</a:t>
            </a:r>
          </a:p>
        </p:txBody>
      </p:sp>
      <p:graphicFrame>
        <p:nvGraphicFramePr>
          <p:cNvPr id="9" name="Chart"/>
          <p:cNvGraphicFramePr/>
          <p:nvPr/>
        </p:nvGraphicFramePr>
        <p:xfrm>
          <a:off xmlns:a="http://schemas.openxmlformats.org/drawingml/2006/main" x="4476750" y="1428750"/>
          <a:ext xmlns:a="http://schemas.openxmlformats.org/drawingml/2006/main" cx="6667500" cy="4000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3e2389fe59a4c46"/>
          </a:graphicData>
        </a:graphic>
      </p:graphicFrame>
    </p:spTree>
    <p:extLst>
      <p:ext uri="{BB962C8B-B14F-4D97-AF65-F5344CB8AC3E}">
        <p14:creationId xmlns:p14="http://schemas.microsoft.com/office/powerpoint/2010/main" val="161958780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D223293-109B-42C6-8AB0-D8D7CB1243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A083E6-1513-47F9-B45F-9186B0E5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92D29D-423F-4850-B8F5-036A8CA0C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0F4EAD-F84B-40F4-B780-A433DB2F3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Highlights and risks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6DDFE6C-0BAA-4A70-A29D-73A597FDB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495300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110E49-495C-40D5-AC0F-D203694B2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F766E"/>
          </a:solidFill>
          <a:ln xmlns:a="http://schemas.openxmlformats.org/drawingml/2006/main" w="0">
            <a:solidFill>
              <a:srgbClr val="0F766E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730C82-F679-4793-82D1-8651358A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461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Highlights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90E17C-0F9C-4CBF-B5A3-431CEE102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461010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C09MXSVB2HH: • The CEO of the retail client said the weekly advisory cadence is working, but they want tighter decision logs and clearer owner follow-through. • The operations lead asked for a dashboard pack that shows burn, renewal risk, and implementation blockers in one place. • This is a good expansion signal if we package the reporting layer cleanly.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C09MXSVB2HH: • Qualified consulting pipeline moved from _$118k to $164k_ over the last 10 days. • Two enterprise advisory opportunities are now in procurement review. • The near-term risk is slower legal turnaround on MSA redlines, which could push one April close into May.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C09MXSVB2HH: Hyperagent is a good alternative for clients, in advanced talks with RTPL for its implementaiotn on behalf of DB consulting and Advisory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006206-13C0-437F-8139-8F19E66D2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353050" cy="4286250"/>
          </a:xfrm>
          <a:prstGeom xmlns:a="http://schemas.openxmlformats.org/drawingml/2006/main" prst="roundRect">
            <a:avLst>
              <a:gd name="adj" fmla="val 1778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24A253-5342-4425-8166-BA6EBF306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BE123C"/>
          </a:solidFill>
          <a:ln xmlns:a="http://schemas.openxmlformats.org/drawingml/2006/main" w="0">
            <a:solidFill>
              <a:srgbClr val="BE123C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1F7B85D-B015-4F6F-873D-246408074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01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Risks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4D6FD8E-CC15-448B-9489-684D2E5D8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28850"/>
            <a:ext cx="5010150" cy="3333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C09MXSVB2HH: • One client workshop is blocked until the data room access issue is resolved. • Delivery confidence remains high, but the team needs a named owner for exec stakeholder scheduling. • If we do not unblock the security questionnaire by Friday, the healthcare advisory kickoff will slip by at least one week.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Risk #5: Risk: Live channel quality can overwhelm executive-briefing signal</a:t>
            </a:r>
          </a:p>
        </p:txBody>
      </p:sp>
    </p:spTree>
    <p:extLst>
      <p:ext uri="{BB962C8B-B14F-4D97-AF65-F5344CB8AC3E}">
        <p14:creationId xmlns:p14="http://schemas.microsoft.com/office/powerpoint/2010/main" val="67924827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5D223293-109B-42C6-8AB0-D8D7CB12434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72A2F1D-069D-40C7-841E-FFE4C769E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0">
            <a:solidFill>
              <a:srgbClr val="F8FAFC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569CEC-5F5D-49E0-A89D-C8CEC2414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1365D2-18E8-454A-9B73-77B815726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85800"/>
            <a:ext cx="685800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2250" b="1">
                <a:solidFill>
                  <a:srgbClr val="0F172A"/>
                </a:solidFill>
              </a:rPr>
              <a:t>Immediate asks and next-week focus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A91E26-1522-49EB-B8EF-61A01A9EA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495300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DFAD0D-15EC-4340-8840-5D7D93409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D97706"/>
          </a:solidFill>
          <a:ln xmlns:a="http://schemas.openxmlformats.org/drawingml/2006/main" w="0">
            <a:solidFill>
              <a:srgbClr val="D9770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0B38E9-30A4-4BC2-BF5A-E3D32B73E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809750"/>
            <a:ext cx="46101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Immediate asks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CC872F-E6EE-4F1A-A3CE-A8AB6F834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28850"/>
            <a:ext cx="461010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C09MXSVB2HH: • Need approval to pull one additional analytics contractor into the customer-ops workstream for 3 weeks. • Need legal support on the enterprise MSA backlog to protect April revenue timing. • Please confirm whether we want the board narrative to emphasize pipeline quality, delivery readiness, or margin improvement first.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The board narrative should show that Directing Business Consulting Advisory is becoming a repeatable boutique AI advisory business, not a collection of one-off projects.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Emphasize conversion from founder-led consulting into packaged offerings: chief-of-staff systems, GTM operating cadence, and AI-enabled advisory retainers.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7A7836-6778-43AA-84FF-3382B033E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428750"/>
            <a:ext cx="5353050" cy="4000500"/>
          </a:xfrm>
          <a:prstGeom xmlns:a="http://schemas.openxmlformats.org/drawingml/2006/main" prst="roundRect">
            <a:avLst>
              <a:gd name="adj" fmla="val 190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094BC1-1366-4AD7-AECB-9A9AB5E8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00200"/>
            <a:ext cx="609600" cy="952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3EB"/>
          </a:solidFill>
          <a:ln xmlns:a="http://schemas.openxmlformats.org/drawingml/2006/main" w="0">
            <a:solidFill>
              <a:srgbClr val="2563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5CA1F8-8D83-4AC5-8192-3088810F1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809750"/>
            <a:ext cx="50101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800" b="1">
                <a:solidFill>
                  <a:srgbClr val="0F172A"/>
                </a:solidFill>
              </a:rPr>
              <a:t>Next week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250E57-1E46-4F88-87CA-411668B63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228850"/>
            <a:ext cx="5010150" cy="304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1. Close the mobile crash hotfix and confirm session stability returns to baseline.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2. Unblock enterprise security reviews with legal support and tighter turnaround ownership.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rPr sz="1200" b="0">
                <a:solidFill>
                  <a:srgbClr val="334155"/>
                </a:solidFill>
              </a:rPr>
              <a:t>3. Keep board-facing messaging anchored in pipeline credibility, burn discipline, and enterprise readiness.</a:t>
            </a:r>
          </a:p>
        </p:txBody>
      </p:sp>
    </p:spTree>
    <p:extLst>
      <p:ext uri="{BB962C8B-B14F-4D97-AF65-F5344CB8AC3E}">
        <p14:creationId xmlns:p14="http://schemas.microsoft.com/office/powerpoint/2010/main" val="1542074149"/>
      </p:ext>
    </p:extLst>
  </p:cSld>
</p:sld>
</file>

<file path=ppt/theme/theme1.xml><?xml version="1.0" encoding="utf-8"?>
<a:theme xmlns:a="http://schemas.openxmlformats.org/drawingml/2006/main" name="Executive Briefing Demo">
  <a:themeElements>
    <a:clrScheme name="Executive Briefing Demo">
      <a:accent1>
        <a:srgbClr val="2563EB"/>
      </a:accent1>
      <a:accent2>
        <a:srgbClr val="0F766E"/>
      </a:accent2>
      <a:accent3>
        <a:srgbClr val="D97706"/>
      </a:accent3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xecutive Briefing Demo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2026-04-18T02:34:46.0060000Z</dcterms:created>
  <dcterms:modified xsi:type="dcterms:W3CDTF">2026-04-18T02:34:46.0060000Z</dcterms:modified>
</coreProperties>
</file>