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d27a9d15a34fa5" /><Relationship Type="http://schemas.openxmlformats.org/officeDocument/2006/relationships/extended-properties" Target="/docProps/app.xml" Id="R1ee09b2f215c4e07" /><Relationship Type="http://schemas.openxmlformats.org/officeDocument/2006/relationships/officeDocument" Target="/ppt/presentation.xml" Id="R5e37b906f3a543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aad39d52c4476a"/>
  </p:sldMasterIdLst>
  <p:notesMasterIdLst>
    <p:notesMasterId xmlns:r="http://schemas.openxmlformats.org/officeDocument/2006/relationships" r:id="R09127fae92ed4be3"/>
  </p:notesMasterIdLst>
  <p:sldIdLst>
    <p:sldId xmlns:r="http://schemas.openxmlformats.org/officeDocument/2006/relationships" id="256" r:id="R7dc1f00ffc304d9d"/>
    <p:sldId xmlns:r="http://schemas.openxmlformats.org/officeDocument/2006/relationships" id="257" r:id="R1319853b892642ca"/>
    <p:sldId xmlns:r="http://schemas.openxmlformats.org/officeDocument/2006/relationships" id="258" r:id="Reac96d31f6414c76"/>
    <p:sldId xmlns:r="http://schemas.openxmlformats.org/officeDocument/2006/relationships" id="259" r:id="R3139205e3d3b4013"/>
    <p:sldId xmlns:r="http://schemas.openxmlformats.org/officeDocument/2006/relationships" id="260" r:id="Re885fb923878498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aad39d52c4476a" /><Relationship Type="http://schemas.openxmlformats.org/officeDocument/2006/relationships/theme" Target="/ppt/theme/theme1.xml" Id="R52fe7425c7c54eb6" /><Relationship Type="http://schemas.openxmlformats.org/officeDocument/2006/relationships/notesMaster" Target="/ppt/notesMasters/notesMaster1.xml" Id="R09127fae92ed4be3" /><Relationship Type="http://schemas.openxmlformats.org/officeDocument/2006/relationships/presProps" Target="/ppt/presProps.xml" Id="R91458e7aee3c4dbe" /><Relationship Type="http://schemas.openxmlformats.org/officeDocument/2006/relationships/viewProps" Target="/ppt/viewProps.xml" Id="R784dcd8eb0bb4e21" /><Relationship Type="http://schemas.openxmlformats.org/officeDocument/2006/relationships/tableStyles" Target="/ppt/tableStyles.xml" Id="R771207f788f44be0" /><Relationship Type="http://schemas.openxmlformats.org/officeDocument/2006/relationships/slide" Target="/ppt/slides/slide1.xml" Id="R7dc1f00ffc304d9d" /><Relationship Type="http://schemas.openxmlformats.org/officeDocument/2006/relationships/slide" Target="/ppt/slides/slide2.xml" Id="R1319853b892642ca" /><Relationship Type="http://schemas.openxmlformats.org/officeDocument/2006/relationships/slide" Target="/ppt/slides/slide3.xml" Id="Reac96d31f6414c76" /><Relationship Type="http://schemas.openxmlformats.org/officeDocument/2006/relationships/slide" Target="/ppt/slides/slide4.xml" Id="R3139205e3d3b4013" /><Relationship Type="http://schemas.openxmlformats.org/officeDocument/2006/relationships/slide" Target="/ppt/slides/slide5.xml" Id="Re885fb92387849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31f6024635849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Executive Briefing Demo">
  <a:themeElements>
    <a:clrScheme name="Executive Briefing Demo">
      <a:accent1>
        <a:srgbClr val="2563EB"/>
      </a:accent1>
      <a:accent2>
        <a:srgbClr val="0F766E"/>
      </a:accent2>
      <a:accent3>
        <a:srgbClr val="D97706"/>
      </a:accent3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xecutive Briefing Demo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c6c64ae2494d05" /><Relationship Type="http://schemas.openxmlformats.org/officeDocument/2006/relationships/notesMaster" Target="/ppt/notesMasters/notesMaster1.xml" Id="R87b9e5bd46094d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e1f79d86ad4658" /><Relationship Type="http://schemas.openxmlformats.org/officeDocument/2006/relationships/notesMaster" Target="/ppt/notesMasters/notesMaster1.xml" Id="Rc821a3163ab747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99626947114b5e" /><Relationship Type="http://schemas.openxmlformats.org/officeDocument/2006/relationships/notesMaster" Target="/ppt/notesMasters/notesMaster1.xml" Id="R164b4e8d6d6340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520999e7d041c5" /><Relationship Type="http://schemas.openxmlformats.org/officeDocument/2006/relationships/notesMaster" Target="/ppt/notesMasters/notesMaster1.xml" Id="R218ee412852e46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cc12452ea24eee" /><Relationship Type="http://schemas.openxmlformats.org/officeDocument/2006/relationships/notesMaster" Target="/ppt/notesMasters/notesMaster1.xml" Id="R0f29454e853342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0de7c810d44ff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5D6607B5-A12B-40F7-AFBA-3051487DFF19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0B0C3C5C-D3FC-4B17-ADF3-1452B1071AFC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EFF3265-1718-4D45-B612-0191F6B554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01B156-63A3-491B-9FF6-B50EEBEBD63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FB032A-3EC5-473E-95EF-14E6ABFA23A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b4f49152bbb4a75" /><Relationship Type="http://schemas.openxmlformats.org/officeDocument/2006/relationships/slideLayout" Target="/ppt/slideLayouts/slideLayout2.xml" Id="R4a5f7961dc0a4e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39FFE53-6569-4E06-B264-8E9E38B50BF9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5f7961dc0a4e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52d4f6a6004a75" /><Relationship Type="http://schemas.openxmlformats.org/officeDocument/2006/relationships/notesSlide" Target="/ppt/notesSlides/notesSlide1.xml" Id="R5dc961cbabde47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80058c4d1a457a" /><Relationship Type="http://schemas.openxmlformats.org/officeDocument/2006/relationships/notesSlide" Target="/ppt/notesSlides/notesSlide2.xml" Id="R8a6d1d7bf48643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e0e1a9800d47e7" /><Relationship Type="http://schemas.openxmlformats.org/officeDocument/2006/relationships/chart" Target="/ppt/slides/charts/chart1.xml" Id="R6be9e9b7c7b140e4" /><Relationship Type="http://schemas.openxmlformats.org/officeDocument/2006/relationships/notesSlide" Target="/ppt/notesSlides/notesSlide3.xml" Id="R8e995356d68740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f4e571db2e4c26" /><Relationship Type="http://schemas.openxmlformats.org/officeDocument/2006/relationships/notesSlide" Target="/ppt/notesSlides/notesSlide4.xml" Id="Rf3f1603c2aa040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fbcb7d4fcd4c8a" /><Relationship Type="http://schemas.openxmlformats.org/officeDocument/2006/relationships/notesSlide" Target="/ppt/notesSlides/notesSlide5.xml" Id="R987bb83f46574182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0F172A"/>
                </a:solidFill>
                <a:latin typeface="Poppins"/>
                <a:ea typeface="Poppins"/>
                <a:cs typeface="Poppins"/>
              </a:rPr>
              <a:t>ARR and Qualified Pipeline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0F172A"/>
              </a:solidFill>
              <a:latin typeface="Poppins"/>
              <a:ea typeface="Poppins"/>
              <a:cs typeface="Poppins"/>
            </a:defRPr>
          </a:pPr>
        </a:p>
      </c:txPr>
    </c:title>
    <c:autoTitleDeleted val="0"/>
    <c:view3D/>
    <c:plotArea>
      <c:layout/>
      <c:lineChart>
        <c:grouping val="standard"/>
        <c:varyColors val="0"/>
        <c:ser>
          <c:idx val="0"/>
          <c:order val="0"/>
          <c:tx>
            <c:v>ARR ($k)</c:v>
          </c:tx>
          <c:spPr>
            <a:solidFill xmlns:a="http://schemas.openxmlformats.org/drawingml/2006/main">
              <a:srgbClr val="2563EB"/>
            </a:solidFill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/>
          <c:cat>
            <c:strLit>
              <c:ptCount val="6"/>
              <c:pt idx="0">
                <c:v>Jan 26</c:v>
              </c:pt>
              <c:pt idx="1">
                <c:v>Feb 26</c:v>
              </c:pt>
              <c:pt idx="2">
                <c:v>Mar 26</c:v>
              </c:pt>
              <c:pt idx="3">
                <c:v>Apr 26</c:v>
              </c:pt>
              <c:pt idx="4">
                <c:v>May 26</c:v>
              </c:pt>
              <c:pt idx="5">
                <c:v>Jun 26</c:v>
              </c:pt>
            </c:strLit>
          </c:cat>
          <c:val>
            <c:numLit>
              <c:formatCode/>
              <c:ptCount val="6"/>
              <c:pt idx="0">
                <c:v>1420</c:v>
              </c:pt>
              <c:pt idx="1">
                <c:v>1465</c:v>
              </c:pt>
              <c:pt idx="2">
                <c:v>1510</c:v>
              </c:pt>
              <c:pt idx="3">
                <c:v>1568</c:v>
              </c:pt>
              <c:pt idx="4">
                <c:v>1624</c:v>
              </c:pt>
              <c:pt idx="5">
                <c:v>1688</c:v>
              </c:pt>
            </c:numLit>
          </c:val>
          <c:smooth val="0"/>
        </c:ser>
        <c:ser>
          <c:idx val="1"/>
          <c:order val="1"/>
          <c:tx>
            <c:v>Qualified Pipeline ($k)</c:v>
          </c:tx>
          <c:spPr>
            <a:solidFill xmlns:a="http://schemas.openxmlformats.org/drawingml/2006/main">
              <a:srgbClr val="0F766E"/>
            </a:solidFill>
            <a:ln xmlns:a="http://schemas.openxmlformats.org/drawingml/2006/main" w="28575">
              <a:solidFill>
                <a:srgbClr val="0F766E"/>
              </a:solidFill>
              <a:prstDash val="solid"/>
            </a:ln>
          </c:spPr>
          <c:marker/>
          <c:cat>
            <c:strLit>
              <c:ptCount val="6"/>
              <c:pt idx="0">
                <c:v>Jan 26</c:v>
              </c:pt>
              <c:pt idx="1">
                <c:v>Feb 26</c:v>
              </c:pt>
              <c:pt idx="2">
                <c:v>Mar 26</c:v>
              </c:pt>
              <c:pt idx="3">
                <c:v>Apr 26</c:v>
              </c:pt>
              <c:pt idx="4">
                <c:v>May 26</c:v>
              </c:pt>
              <c:pt idx="5">
                <c:v>Jun 26</c:v>
              </c:pt>
            </c:strLit>
          </c:cat>
          <c:val>
            <c:numLit>
              <c:formatCode/>
              <c:ptCount val="6"/>
              <c:pt idx="0">
                <c:v>980</c:v>
              </c:pt>
              <c:pt idx="1">
                <c:v>1020</c:v>
              </c:pt>
              <c:pt idx="2">
                <c:v>1085</c:v>
              </c:pt>
              <c:pt idx="3">
                <c:v>1175</c:v>
              </c:pt>
              <c:pt idx="4">
                <c:v>1250</c:v>
              </c:pt>
              <c:pt idx="5">
                <c:v>1335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Lato"/>
              <a:ea typeface="Lato"/>
              <a:cs typeface="Lato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FB032A-3EC5-473E-95EF-14E6ABFA23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49F57-0305-414B-9C17-503BCF30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4CF9C-6B15-46E0-B3E1-B7D171D7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53FD8-A33A-4A14-B266-6EC81683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38200"/>
            <a:ext cx="7048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0F172A"/>
                </a:solidFill>
              </a:rPr>
              <a:t>Executive Briefing Machine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BE01D-BD90-48BC-A364-2E08048D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00" b="0">
                <a:solidFill>
                  <a:srgbClr val="334155"/>
                </a:solidFill>
              </a:rPr>
              <a:t>Growth and efficiency improved this month, with reliability still the main watch item.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4F990-5343-4453-907F-1C9DE6F8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D4FE3-EE78-49C0-B66C-33D7302B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609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719D48-6D03-49BD-A1FE-5884DA4D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0F172A"/>
                </a:solidFill>
              </a:rPr>
              <a:t>Period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2C1D47-353D-4062-8FB7-2B99F8A4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29908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4155"/>
                </a:solidFill>
              </a:rPr>
              <a:t>May 2026 to Jun 2026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200" b="0">
                <a:solidFill>
                  <a:srgbClr val="334155"/>
                </a:solidFill>
              </a:rPr>
              <a:t>Generated from sample collaboration-style inputs with connector-ready adapters.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1C89E7-A2C4-41D2-837D-50719BDE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CBAB87-9715-49E7-A1E2-59C44829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609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15C8A-C3B9-4E81-A219-7F25869D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3850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0F172A"/>
                </a:solidFill>
              </a:rPr>
              <a:t>Operating readout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5DD4D-596C-43CD-9E9F-2477F779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57600"/>
            <a:ext cx="29908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4155"/>
                </a:solidFill>
              </a:rPr>
              <a:t>ARR reached $1688k and qualified pipeline rose to $1335k, keeping the Q3 growth story credible.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200" b="0">
                <a:solidFill>
                  <a:srgbClr val="334155"/>
                </a:solidFill>
              </a:rPr>
              <a:t>Net burn improved to $226k and NRR moved to 114%, which supports the efficiency narrative leadership wants to maintain.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647E5C-83DB-49C1-8C33-FCE7FCF5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14500"/>
            <a:ext cx="3429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419A76-F700-4C2E-B0D9-A7A017D5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85950"/>
            <a:ext cx="609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BE12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443B3-EEB9-4802-BD54-308801A0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086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0F172A"/>
                </a:solidFill>
              </a:rPr>
              <a:t>Watch item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7A8385-6469-42BA-88B0-EA5C8291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30861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4155"/>
                </a:solidFill>
              </a:rPr>
              <a:t>The main risk remains mobile reliability and enterprise deal friction around security review turnaround.</a:t>
            </a:r>
          </a:p>
        </p:txBody>
      </p:sp>
    </p:spTree>
    <p:extLst>
      <p:ext uri="{BB962C8B-B14F-4D97-AF65-F5344CB8AC3E}">
        <p14:creationId xmlns:p14="http://schemas.microsoft.com/office/powerpoint/2010/main" val="14450990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FB032A-3EC5-473E-95EF-14E6ABFA23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3B052-E88D-4DF9-A6D8-E810DBFF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05DE8-DF01-4EFF-A9BD-1ED9C9A8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A60B1-17F5-4AED-A125-D44F73B6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685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0F172A"/>
                </a:solidFill>
              </a:rPr>
              <a:t>KPI snapshot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7070D-F4FA-4012-8821-F87F601F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323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5AA1A-64BC-45A9-8B8E-BD71E11C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609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A7142-3A3D-4DE8-B29D-FD170BBB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0F172A"/>
                </a:solidFill>
              </a:rPr>
              <a:t>ARR: $1688k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1AF18-204A-425B-99D3-402B4AC3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895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4155"/>
                </a:solidFill>
              </a:rPr>
              <a:t>+64k vs last month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4BF3E-58EC-4FB8-9B52-17948000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28750"/>
            <a:ext cx="323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47D15-E960-455E-A366-2A5E9394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00200"/>
            <a:ext cx="609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66A90-8F0F-4783-9A4F-BC945C5F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0F172A"/>
                </a:solidFill>
              </a:rPr>
              <a:t>Qualified Pipeline: $1335k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8A557A-90D5-4F97-B8AC-2B05DDA7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28850"/>
            <a:ext cx="2895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4155"/>
                </a:solidFill>
              </a:rPr>
              <a:t>+85k vs last month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6D2C2B-8FCF-40BC-93D6-56EEBCFF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28750"/>
            <a:ext cx="323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5870D-CDF6-494B-AF35-23A93AD6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00200"/>
            <a:ext cx="609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AF900-B53F-47BF-BE81-D0A0B4F4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0F172A"/>
                </a:solidFill>
              </a:rPr>
              <a:t>Net Burn: $226k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A6F88D-010A-46BC-91EA-02195484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28850"/>
            <a:ext cx="2895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4155"/>
                </a:solidFill>
              </a:rPr>
              <a:t>-5k vs last month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EBD488-04A3-4D1D-98E4-AE956DEA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323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294C5D-CC18-4810-A550-5B658F02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609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DE43EC-E9C4-45D0-BA6D-9684EC6C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0F172A"/>
                </a:solidFill>
              </a:rPr>
              <a:t>NRR: 114%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08BB35-82C6-4AE1-B252-4A69B23F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2895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4155"/>
                </a:solidFill>
              </a:rPr>
              <a:t>+1 pts vs last month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9692B0-BB7F-4A5C-983C-54BEF1B6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24250"/>
            <a:ext cx="323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A3228E-FCF2-4306-95C9-70D22202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95700"/>
            <a:ext cx="609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A01028-01DB-43C1-8DE3-33D4C39C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05250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0F172A"/>
                </a:solidFill>
              </a:rPr>
              <a:t>Sev-1 Incidents: 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708AE5-6679-4478-94CE-AAB99135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24350"/>
            <a:ext cx="2895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4155"/>
                </a:solidFill>
              </a:rPr>
              <a:t>+1 incident improvement</a:t>
            </a:r>
          </a:p>
        </p:txBody>
      </p:sp>
    </p:spTree>
    <p:extLst>
      <p:ext uri="{BB962C8B-B14F-4D97-AF65-F5344CB8AC3E}">
        <p14:creationId xmlns:p14="http://schemas.microsoft.com/office/powerpoint/2010/main" val="5386921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FB032A-3EC5-473E-95EF-14E6ABFA23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E577D-F238-4673-B236-CCCAE0F8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326A6-B8D2-4C1B-9D37-278E9BB1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19A3E-376F-4277-8D5F-623949CB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685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0F172A"/>
                </a:solidFill>
              </a:rPr>
              <a:t>Growth and pipeline trend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780BA-C77A-495C-84B1-900FB51F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3333750" cy="4476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E048C-B149-4C98-9C88-98B57820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609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D249C-B2D1-435D-AD7B-229EAF94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0F172A"/>
                </a:solidFill>
              </a:rPr>
              <a:t>Readout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695D6-8D80-4C60-8A5E-22BFF40B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9908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4155"/>
                </a:solidFill>
              </a:rPr>
              <a:t>ARR reached $1688k and qualified pipeline rose to $1335k, keeping the Q3 growth story credible.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200" b="0">
                <a:solidFill>
                  <a:srgbClr val="334155"/>
                </a:solidFill>
              </a:rPr>
              <a:t>Net burn improved to $226k and NRR moved to 114%, which supports the efficiency narrative leadership wants to maintain.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200" b="0">
                <a:solidFill>
                  <a:srgbClr val="334155"/>
                </a:solidFill>
              </a:rPr>
              <a:t>The main risk remains mobile reliability and enterprise deal friction around security review turnaround.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4476750" y="1428750"/>
          <a:ext xmlns:a="http://schemas.openxmlformats.org/drawingml/2006/main" cx="6667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e9e9b7c7b140e4"/>
          </a:graphicData>
        </a:graphic>
      </p:graphicFrame>
    </p:spTree>
    <p:extLst>
      <p:ext uri="{BB962C8B-B14F-4D97-AF65-F5344CB8AC3E}">
        <p14:creationId xmlns:p14="http://schemas.microsoft.com/office/powerpoint/2010/main" val="1925823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FB032A-3EC5-473E-95EF-14E6ABFA23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E15D1-1376-460D-92D3-AFB264E0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1D657-4E11-4BA5-90DC-A84A8EF9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BE123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A7EAD-A6E1-4DEA-B538-5068179B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685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0F172A"/>
                </a:solidFill>
              </a:rPr>
              <a:t>Highlights and risks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7575F-0AAC-4B23-AAEA-145DC073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495300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5FB5B-5498-4AE1-AEAD-233FC794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609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C9CCA-B4B6-47B0-9240-F4E8E471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461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0F172A"/>
                </a:solidFill>
              </a:rPr>
              <a:t>Highlights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6F263-B6BF-4C5E-9BE4-DF34D24A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46101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4155"/>
                </a:solidFill>
              </a:rPr>
              <a:t>1. Growth team rolled out the onboarding checklist experiment to 40% of new workspaces and activation improved by 6 percentage points in the pilot group.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200" b="0">
                <a:solidFill>
                  <a:srgbClr val="334155"/>
                </a:solidFill>
              </a:rPr>
              <a:t>2. Northstar expanded to an annual plan, adding $48k ARR after the joint sales and success push closed this week.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200" b="0">
                <a:solidFill>
                  <a:srgbClr val="334155"/>
                </a:solidFill>
              </a:rPr>
              <a:t>3. Support backlog dropped below 24 hours for the first time in six weeks after the triage rotation change.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F75FE6-822C-4E4B-8798-36E462CB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535305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A0C08-0CB3-45B8-9011-F054B8D1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00200"/>
            <a:ext cx="609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BE12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8B8E7-5E04-44E2-B78B-FE245040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501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0F172A"/>
                </a:solidFill>
              </a:rPr>
              <a:t>Risks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BDD53B-C6F3-4FCD-90B9-DDD33508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28850"/>
            <a:ext cx="5010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4155"/>
                </a:solidFill>
              </a:rPr>
              <a:t>1. Two enterprise deals are blocked on security questionnaire turnaround and legal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200" b="0">
                <a:solidFill>
                  <a:srgbClr val="334155"/>
                </a:solidFill>
              </a:rPr>
              <a:t>2. The iOS 3.12 release introduced a crash regression affecting 4.7% of mobile sessions.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200" b="0">
                <a:solidFill>
                  <a:srgbClr val="334155"/>
                </a:solidFill>
              </a:rPr>
              <a:t>3. Finance flagged June vendor spend as slightly ahead of plan because of the analytics infrastructure migration.</a:t>
            </a:r>
          </a:p>
        </p:txBody>
      </p:sp>
    </p:spTree>
    <p:extLst>
      <p:ext uri="{BB962C8B-B14F-4D97-AF65-F5344CB8AC3E}">
        <p14:creationId xmlns:p14="http://schemas.microsoft.com/office/powerpoint/2010/main" val="7987860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FB032A-3EC5-473E-95EF-14E6ABFA23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ED019-709A-4BBC-8499-F58C0F87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51792-71CC-427A-ABAA-4ABC7415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C8B3F-F069-426A-9C25-A630C518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685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0F172A"/>
                </a:solidFill>
              </a:rPr>
              <a:t>Immediate asks and next-week focus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8F495-7FA0-4E6B-AA78-1C49A01C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25DF5-9815-4AF9-9170-68DC786D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609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0CAC0-A757-485C-97CF-C5CB8D9A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461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0F172A"/>
                </a:solidFill>
              </a:rPr>
              <a:t>Immediate asks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2FD77-BDD7-48DE-86FD-F727DEDA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46101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4155"/>
                </a:solidFill>
              </a:rPr>
              <a:t>1. Approve short-term legal support for enterprise security reviews.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200" b="0">
                <a:solidFill>
                  <a:srgbClr val="334155"/>
                </a:solidFill>
              </a:rPr>
              <a:t>2. Prioritize the mobile crash hotfix ahead of lower-priority roadmap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200" b="0">
                <a:solidFill>
                  <a:srgbClr val="334155"/>
                </a:solidFill>
              </a:rPr>
              <a:t>3. The board will care most about whether enterprise pipeline supports the Q3 revenue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200" b="0">
                <a:solidFill>
                  <a:srgbClr val="334155"/>
                </a:solidFill>
              </a:rPr>
              <a:t>4. Keep net burn under $230k while continuing to invest in product reliability.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59527-34F7-4753-8825-9175C27C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53530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7C254-AF54-4837-B416-9D4AAD4A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00200"/>
            <a:ext cx="6096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29878-F73D-4556-A5D9-C02D5E8C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501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0F172A"/>
                </a:solidFill>
              </a:rPr>
              <a:t>Next week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B8D10C-C3D6-4241-8B40-55AB3488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28850"/>
            <a:ext cx="50101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4155"/>
                </a:solidFill>
              </a:rPr>
              <a:t>1. Close the mobile crash hotfix and confirm session stability returns to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200" b="0">
                <a:solidFill>
                  <a:srgbClr val="334155"/>
                </a:solidFill>
              </a:rPr>
              <a:t>2. Unblock enterprise security reviews with legal support and tighter turnaround ownership.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200" b="0">
                <a:solidFill>
                  <a:srgbClr val="334155"/>
                </a:solidFill>
              </a:rPr>
              <a:t>3. Keep board-facing messaging anchored in pipeline credibility, burn discipline, and enterprise readiness.</a:t>
            </a:r>
          </a:p>
        </p:txBody>
      </p:sp>
    </p:spTree>
    <p:extLst>
      <p:ext uri="{BB962C8B-B14F-4D97-AF65-F5344CB8AC3E}">
        <p14:creationId xmlns:p14="http://schemas.microsoft.com/office/powerpoint/2010/main" val="1679256193"/>
      </p:ext>
    </p:extLst>
  </p:cSld>
</p:sld>
</file>

<file path=ppt/theme/theme1.xml><?xml version="1.0" encoding="utf-8"?>
<a:theme xmlns:a="http://schemas.openxmlformats.org/drawingml/2006/main" name="Executive Briefing Demo">
  <a:themeElements>
    <a:clrScheme name="Executive Briefing Demo">
      <a:accent1>
        <a:srgbClr val="2563EB"/>
      </a:accent1>
      <a:accent2>
        <a:srgbClr val="0F766E"/>
      </a:accent2>
      <a:accent3>
        <a:srgbClr val="D97706"/>
      </a:accent3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xecutive Briefing Demo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2026-04-17T15:30:05.9750000Z</dcterms:created>
  <dcterms:modified xsi:type="dcterms:W3CDTF">2026-04-17T15:30:05.9750000Z</dcterms:modified>
</coreProperties>
</file>