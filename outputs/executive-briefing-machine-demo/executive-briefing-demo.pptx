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be947f88df4a75" /><Relationship Type="http://schemas.openxmlformats.org/officeDocument/2006/relationships/extended-properties" Target="/docProps/app.xml" Id="Ra8f48df142514e70" /><Relationship Type="http://schemas.openxmlformats.org/officeDocument/2006/relationships/officeDocument" Target="/ppt/presentation.xml" Id="Re0eebb88c97746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e98b62e3a444f1"/>
  </p:sldMasterIdLst>
  <p:notesMasterIdLst>
    <p:notesMasterId xmlns:r="http://schemas.openxmlformats.org/officeDocument/2006/relationships" r:id="R61be6e33ef274d91"/>
  </p:notesMasterIdLst>
  <p:sldIdLst>
    <p:sldId xmlns:r="http://schemas.openxmlformats.org/officeDocument/2006/relationships" id="256" r:id="R1a99382a53274223"/>
    <p:sldId xmlns:r="http://schemas.openxmlformats.org/officeDocument/2006/relationships" id="257" r:id="Ree40299b1e8d42dd"/>
    <p:sldId xmlns:r="http://schemas.openxmlformats.org/officeDocument/2006/relationships" id="258" r:id="R96f57896eb434e6a"/>
    <p:sldId xmlns:r="http://schemas.openxmlformats.org/officeDocument/2006/relationships" id="259" r:id="R959904a8fd40454d"/>
    <p:sldId xmlns:r="http://schemas.openxmlformats.org/officeDocument/2006/relationships" id="260" r:id="R3ca4c0c191d54af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e98b62e3a444f1" /><Relationship Type="http://schemas.openxmlformats.org/officeDocument/2006/relationships/theme" Target="/ppt/theme/theme1.xml" Id="R434e85dca3c341e4" /><Relationship Type="http://schemas.openxmlformats.org/officeDocument/2006/relationships/notesMaster" Target="/ppt/notesMasters/notesMaster1.xml" Id="R61be6e33ef274d91" /><Relationship Type="http://schemas.openxmlformats.org/officeDocument/2006/relationships/presProps" Target="/ppt/presProps.xml" Id="R339394d03f0448e4" /><Relationship Type="http://schemas.openxmlformats.org/officeDocument/2006/relationships/viewProps" Target="/ppt/viewProps.xml" Id="Rbc132cad39394326" /><Relationship Type="http://schemas.openxmlformats.org/officeDocument/2006/relationships/tableStyles" Target="/ppt/tableStyles.xml" Id="R78c3b82977ad45e4" /><Relationship Type="http://schemas.openxmlformats.org/officeDocument/2006/relationships/slide" Target="/ppt/slides/slide1.xml" Id="R1a99382a53274223" /><Relationship Type="http://schemas.openxmlformats.org/officeDocument/2006/relationships/slide" Target="/ppt/slides/slide2.xml" Id="Ree40299b1e8d42dd" /><Relationship Type="http://schemas.openxmlformats.org/officeDocument/2006/relationships/slide" Target="/ppt/slides/slide3.xml" Id="R96f57896eb434e6a" /><Relationship Type="http://schemas.openxmlformats.org/officeDocument/2006/relationships/slide" Target="/ppt/slides/slide4.xml" Id="R959904a8fd40454d" /><Relationship Type="http://schemas.openxmlformats.org/officeDocument/2006/relationships/slide" Target="/ppt/slides/slide5.xml" Id="R3ca4c0c191d54a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af70bc6d79e43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449eaf1b484757" /><Relationship Type="http://schemas.openxmlformats.org/officeDocument/2006/relationships/notesMaster" Target="/ppt/notesMasters/notesMaster1.xml" Id="R71d492ed08f240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38bb2b9a314187" /><Relationship Type="http://schemas.openxmlformats.org/officeDocument/2006/relationships/notesMaster" Target="/ppt/notesMasters/notesMaster1.xml" Id="R29432d32b60d46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25eadb6ce74c93" /><Relationship Type="http://schemas.openxmlformats.org/officeDocument/2006/relationships/notesMaster" Target="/ppt/notesMasters/notesMaster1.xml" Id="R885605f2f8db42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d786e4fc8245b2" /><Relationship Type="http://schemas.openxmlformats.org/officeDocument/2006/relationships/notesMaster" Target="/ppt/notesMasters/notesMaster1.xml" Id="Rffc2902d6e334c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1459aa53cd4af4" /><Relationship Type="http://schemas.openxmlformats.org/officeDocument/2006/relationships/notesMaster" Target="/ppt/notesMasters/notesMaster1.xml" Id="Ra9e9239b08844a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15fa59a530473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143BD55D-71F2-4977-BD90-D9A53F9B3750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0E0E8367-A029-408A-A61A-8804AA5B4F69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9E8465-A01C-42B5-9553-096EF24FBAB7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F2E805-3AF8-422F-A53E-ADC0D6907EC0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DE4EB3-21C4-46D4-95F1-3948D7A0E82C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82feccfd9c8421b" /><Relationship Type="http://schemas.openxmlformats.org/officeDocument/2006/relationships/slideLayout" Target="/ppt/slideLayouts/slideLayout2.xml" Id="R242ef0c965f74e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077693-AB21-494B-B274-DD6DE17926A6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2ef0c965f74e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ef016baf734274" /><Relationship Type="http://schemas.openxmlformats.org/officeDocument/2006/relationships/notesSlide" Target="/ppt/notesSlides/notesSlide1.xml" Id="Rc2f50c86dc7c4b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889cfa9bf04c38" /><Relationship Type="http://schemas.openxmlformats.org/officeDocument/2006/relationships/notesSlide" Target="/ppt/notesSlides/notesSlide2.xml" Id="R1af6810fc4dc44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5c3d6f169742a9" /><Relationship Type="http://schemas.openxmlformats.org/officeDocument/2006/relationships/chart" Target="/ppt/slides/charts/chart1.xml" Id="R319cf1fd1bc44b19" /><Relationship Type="http://schemas.openxmlformats.org/officeDocument/2006/relationships/notesSlide" Target="/ppt/notesSlides/notesSlide3.xml" Id="Rcadafe0b099b48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ef1d08c1c141af" /><Relationship Type="http://schemas.openxmlformats.org/officeDocument/2006/relationships/notesSlide" Target="/ppt/notesSlides/notesSlide4.xml" Id="R37f47c07623642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753a846b92428c" /><Relationship Type="http://schemas.openxmlformats.org/officeDocument/2006/relationships/notesSlide" Target="/ppt/notesSlides/notesSlide5.xml" Id="R1ddfb25338ae44c9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0F172A"/>
                </a:solidFill>
                <a:latin typeface="Poppins"/>
                <a:ea typeface="Poppins"/>
                <a:cs typeface="Poppins"/>
              </a:rPr>
              <a:t>ARR and Qualified Pipeline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0F172A"/>
              </a:solidFill>
              <a:latin typeface="Poppins"/>
              <a:ea typeface="Poppins"/>
              <a:cs typeface="Poppins"/>
            </a:defRPr>
          </a:pPr>
        </a:p>
      </c:txPr>
    </c:title>
    <c:autoTitleDeleted val="0"/>
    <c:view3D/>
    <c:plotArea>
      <c:layout/>
      <c:lineChart>
        <c:grouping val="standard"/>
        <c:varyColors val="0"/>
        <c:ser>
          <c:idx val="0"/>
          <c:order val="0"/>
          <c:tx>
            <c:v>ARR ($k)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28575">
              <a:solidFill>
                <a:srgbClr val="2563EB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1420</c:v>
              </c:pt>
              <c:pt idx="1">
                <c:v>1465</c:v>
              </c:pt>
              <c:pt idx="2">
                <c:v>1510</c:v>
              </c:pt>
              <c:pt idx="3">
                <c:v>1568</c:v>
              </c:pt>
              <c:pt idx="4">
                <c:v>1624</c:v>
              </c:pt>
              <c:pt idx="5">
                <c:v>1688</c:v>
              </c:pt>
            </c:numLit>
          </c:val>
          <c:smooth val="0"/>
        </c:ser>
        <c:ser>
          <c:idx val="1"/>
          <c:order val="1"/>
          <c:tx>
            <c:v>Qualified Pipeline ($k)</c:v>
          </c:tx>
          <c:spPr>
            <a:solidFill xmlns:a="http://schemas.openxmlformats.org/drawingml/2006/main">
              <a:srgbClr val="0F766E"/>
            </a:solidFill>
            <a:ln xmlns:a="http://schemas.openxmlformats.org/drawingml/2006/main" w="28575">
              <a:solidFill>
                <a:srgbClr val="0F766E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980</c:v>
              </c:pt>
              <c:pt idx="1">
                <c:v>1020</c:v>
              </c:pt>
              <c:pt idx="2">
                <c:v>1085</c:v>
              </c:pt>
              <c:pt idx="3">
                <c:v>1175</c:v>
              </c:pt>
              <c:pt idx="4">
                <c:v>1250</c:v>
              </c:pt>
              <c:pt idx="5">
                <c:v>1335</c:v>
              </c:pt>
            </c:numLit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Lato"/>
              <a:ea typeface="Lato"/>
              <a:cs typeface="Lato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DE4EB3-21C4-46D4-95F1-3948D7A0E8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321D7-6DEC-4CEB-91C5-55A12581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725449-18FB-4991-AC16-A8EE4CEF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ACC6A-96FC-46A0-8952-C4295DBE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38200"/>
            <a:ext cx="704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0F172A"/>
                </a:solidFill>
              </a:rPr>
              <a:t>Executive Briefing Machine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4750B-1E9A-4EB7-B23C-81743A5F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334155"/>
                </a:solidFill>
              </a:rPr>
              <a:t>Growth and efficiency improved this month, with reliability still the main watch item.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DF2DF-77EC-4081-A7CA-600F5E4B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0FA56-7819-4166-9936-41AF1247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2F76F-EF5C-449F-8B5D-1F2315C8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70CE2C-526C-4B05-9E0A-71E4D31F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May 2026 to Jun 2026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Generated from sample collaboration-style inputs with connector-ready adapters.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2505B-E488-42AD-BDA8-5A43F36C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19C16-6983-4B24-B1DB-824BDC6C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D4824-C1DC-42CE-BB89-20935D89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Operating readout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677959-850E-43EC-912D-CF2DB596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DBB86A-A811-4FD3-BCFF-194B9DCB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B40B44-AEB0-4D66-B3EA-8A55FEF5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99A17A-A563-4C0E-9B05-77093D4D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Watch item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38A792-8606-44FE-A47C-635DC271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086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</p:spTree>
    <p:extLst>
      <p:ext uri="{BB962C8B-B14F-4D97-AF65-F5344CB8AC3E}">
        <p14:creationId xmlns:p14="http://schemas.microsoft.com/office/powerpoint/2010/main" val="11053021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DE4EB3-21C4-46D4-95F1-3948D7A0E8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B3AA2A-78C9-4BE6-962C-95AEFA8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5D358-38BE-4FD0-95AB-401C109F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012E0-D612-4012-82B3-D75AB56F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KPI snapshot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3D49D-D8E6-4E64-91CD-CE2248D8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EF9EB-06D9-48F8-BDC6-DBB01719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0D5386-0D09-48AB-A799-946ECF00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ARR: $1688k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1B577-E962-45FF-9883-47A6A4D6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+64k vs last month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DA913E-B64A-473D-9E4F-1F1A3DB4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C875C-E8A9-440E-B345-DC1AEECD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D9D333-E916-4410-8E60-A0893D4A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Qualified Pipeline: $1335k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3E3111-DF22-453C-A576-0E81AC3E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+85k vs last month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3D30B-A3DF-4143-A6E5-3366B384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643343-78A0-4545-A535-A4849D9A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3D0AA5-1929-495F-A38B-D9A02628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Net Burn: $226k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E42479-DCBF-4F88-BDA9-434A69B2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-5k vs last month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7B86F5-6CBE-45BF-8711-CEBF688B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A1FB5A-F482-446B-AAF0-29DB9EA7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42582C-9062-44B3-9A25-A19C2087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NRR: 114%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0CF243-BDDA-4EE1-B846-E8E4B409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pts vs last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D1FC7A-2761-447C-8714-4A3E3356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7CECB6-9C10-42A3-80BD-07420DE8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87C040-2A83-4E7F-AB35-D29F79AA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Sev-1 Incidents: 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66814-3A81-4B94-9418-2CD8908A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incident improvement</a:t>
            </a:r>
          </a:p>
        </p:txBody>
      </p:sp>
    </p:spTree>
    <p:extLst>
      <p:ext uri="{BB962C8B-B14F-4D97-AF65-F5344CB8AC3E}">
        <p14:creationId xmlns:p14="http://schemas.microsoft.com/office/powerpoint/2010/main" val="15487475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DE4EB3-21C4-46D4-95F1-3948D7A0E8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D42C7A-31D8-4E1E-BC1A-BA2B388F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A9CEB-FB1C-4649-907A-FCDDCA61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C6039C-A7C0-43E6-B7E4-CF87AED5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Growth and pipeline trend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85CFA-0D91-4222-89F7-0B8978D8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333750" cy="4476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A7A10-95E4-41D5-B106-54F60758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37F2C-9079-4225-AE39-02393166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Readout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BECE2-11AF-4125-81BE-49262758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908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476750" y="1428750"/>
          <a:ext xmlns:a="http://schemas.openxmlformats.org/drawingml/2006/main" cx="66675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9cf1fd1bc44b19"/>
          </a:graphicData>
        </a:graphic>
      </p:graphicFrame>
    </p:spTree>
    <p:extLst>
      <p:ext uri="{BB962C8B-B14F-4D97-AF65-F5344CB8AC3E}">
        <p14:creationId xmlns:p14="http://schemas.microsoft.com/office/powerpoint/2010/main" val="353078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DE4EB3-21C4-46D4-95F1-3948D7A0E8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50319-FF84-4D2D-A9AD-19E026F0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540E4-753D-4616-980F-EB3C4A43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5C4D3E-4D47-4D1C-BE18-C1D759F0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Highlights and risks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7D667-0C14-4DFC-AC4F-FD9B49FC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8BE70-D992-47B8-8FC9-E4EC1CA3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89336-EFD9-4544-9E50-88EDA1CD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Highlights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956B3-0639-4995-A1A1-DFAE8675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The board will care most about whether enterprise pipeline supports the Q3 revenue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Keep net burn under $230k while continuing to invest in product reliability.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Make the narrative concrete: growth is working, but reliability and enterprise readiness still need disciplined execution.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CE8A6-1787-41C6-B029-CA1BD657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4C189-F70E-4DF2-A012-13C8D2BB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88E65F-E31C-4C29-9857-BFF0A2B4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183B0F-70CA-4136-A6D4-6EC108C6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666968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DE4EB3-21C4-46D4-95F1-3948D7A0E8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2D453-B01B-443C-9486-7E2C3BF8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BF5C4-5CCF-484C-83E7-CFE0AD38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D8348-8E0E-4348-A8E2-2812EDCA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Immediate asks and next-week focus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479B66-4FE8-4757-B00D-79D680BF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0D3B5-E2E5-4A70-B6BD-92407C65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9DE02-F848-4D72-85FE-F167B265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Immediate asks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8BED3-AEF2-4475-9D96-E25347FE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The board will care most about whether enterprise pipeline supports the Q3 revenue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Keep net burn under $230k while continuing to invest in product reliability.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745A4-D02F-420D-87FF-574ED138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35FAF-59D8-4170-A6C2-C76EF601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596240-FAA2-4585-A63D-29239954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Next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EDD33E-6A65-43EB-9F4B-5C75A1B6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Close the mobile crash hotfix and confirm session stability returns to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Unblock enterprise security reviews with legal support and tighter turnaround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Keep board-facing messaging anchored in pipeline credibility, burn discipline, and enterprise readiness.</a:t>
            </a:r>
          </a:p>
        </p:txBody>
      </p:sp>
    </p:spTree>
    <p:extLst>
      <p:ext uri="{BB962C8B-B14F-4D97-AF65-F5344CB8AC3E}">
        <p14:creationId xmlns:p14="http://schemas.microsoft.com/office/powerpoint/2010/main" val="113339355"/>
      </p:ext>
    </p:extLst>
  </p:cSld>
</p:sld>
</file>

<file path=ppt/theme/theme1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2026-04-18T01:46:59.7350000Z</dcterms:created>
  <dcterms:modified xsi:type="dcterms:W3CDTF">2026-04-18T01:46:59.7350000Z</dcterms:modified>
</coreProperties>
</file>