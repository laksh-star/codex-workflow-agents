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69c050a582b40ca" /><Relationship Type="http://schemas.openxmlformats.org/officeDocument/2006/relationships/extended-properties" Target="/docProps/app.xml" Id="R32d93671551649d8" /><Relationship Type="http://schemas.openxmlformats.org/officeDocument/2006/relationships/officeDocument" Target="/ppt/presentation.xml" Id="R612f1d705b1441f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eafe0ec0d6d4c76"/>
  </p:sldMasterIdLst>
  <p:notesMasterIdLst>
    <p:notesMasterId xmlns:r="http://schemas.openxmlformats.org/officeDocument/2006/relationships" r:id="R5f0b76010df846c5"/>
  </p:notesMasterIdLst>
  <p:sldIdLst>
    <p:sldId xmlns:r="http://schemas.openxmlformats.org/officeDocument/2006/relationships" id="256" r:id="R24c6bbf9b1e0410f"/>
    <p:sldId xmlns:r="http://schemas.openxmlformats.org/officeDocument/2006/relationships" id="257" r:id="R531560b276de4cd4"/>
    <p:sldId xmlns:r="http://schemas.openxmlformats.org/officeDocument/2006/relationships" id="258" r:id="R5a4b59c7f4664cdd"/>
    <p:sldId xmlns:r="http://schemas.openxmlformats.org/officeDocument/2006/relationships" id="259" r:id="R75fe185507374281"/>
    <p:sldId xmlns:r="http://schemas.openxmlformats.org/officeDocument/2006/relationships" id="260" r:id="R0a4a3d1ca86d454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afe0ec0d6d4c76" /><Relationship Type="http://schemas.openxmlformats.org/officeDocument/2006/relationships/theme" Target="/ppt/theme/theme1.xml" Id="Rc7a7a9ac0ad547d7" /><Relationship Type="http://schemas.openxmlformats.org/officeDocument/2006/relationships/notesMaster" Target="/ppt/notesMasters/notesMaster1.xml" Id="R5f0b76010df846c5" /><Relationship Type="http://schemas.openxmlformats.org/officeDocument/2006/relationships/presProps" Target="/ppt/presProps.xml" Id="Rf918b0e730094b84" /><Relationship Type="http://schemas.openxmlformats.org/officeDocument/2006/relationships/viewProps" Target="/ppt/viewProps.xml" Id="R8267f23dfc784905" /><Relationship Type="http://schemas.openxmlformats.org/officeDocument/2006/relationships/tableStyles" Target="/ppt/tableStyles.xml" Id="Rcad00bc180224466" /><Relationship Type="http://schemas.openxmlformats.org/officeDocument/2006/relationships/slide" Target="/ppt/slides/slide1.xml" Id="R24c6bbf9b1e0410f" /><Relationship Type="http://schemas.openxmlformats.org/officeDocument/2006/relationships/slide" Target="/ppt/slides/slide2.xml" Id="R531560b276de4cd4" /><Relationship Type="http://schemas.openxmlformats.org/officeDocument/2006/relationships/slide" Target="/ppt/slides/slide3.xml" Id="R5a4b59c7f4664cdd" /><Relationship Type="http://schemas.openxmlformats.org/officeDocument/2006/relationships/slide" Target="/ppt/slides/slide4.xml" Id="R75fe185507374281" /><Relationship Type="http://schemas.openxmlformats.org/officeDocument/2006/relationships/slide" Target="/ppt/slides/slide5.xml" Id="R0a4a3d1ca86d454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77139f02afa649c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Executive Briefing Demo">
  <a:themeElements>
    <a:clrScheme name="Executive Briefing Demo">
      <a:accent1>
        <a:srgbClr val="2563EB"/>
      </a:accent1>
      <a:accent2>
        <a:srgbClr val="0F766E"/>
      </a:accent2>
      <a:accent3>
        <a:srgbClr val="D97706"/>
      </a:accent3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Executive Briefing Demo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a58d55d00fb4577" /><Relationship Type="http://schemas.openxmlformats.org/officeDocument/2006/relationships/notesMaster" Target="/ppt/notesMasters/notesMaster1.xml" Id="R9e1e068f484e4e4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624eab7c67844af" /><Relationship Type="http://schemas.openxmlformats.org/officeDocument/2006/relationships/notesMaster" Target="/ppt/notesMasters/notesMaster1.xml" Id="R5047664a585e4cd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89653bcf9894c06" /><Relationship Type="http://schemas.openxmlformats.org/officeDocument/2006/relationships/notesMaster" Target="/ppt/notesMasters/notesMaster1.xml" Id="R9f3fa5db878e463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5ed158a2f0b41af" /><Relationship Type="http://schemas.openxmlformats.org/officeDocument/2006/relationships/notesMaster" Target="/ppt/notesMasters/notesMaster1.xml" Id="R666116eac98c415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0199c2f5f5646c3" /><Relationship Type="http://schemas.openxmlformats.org/officeDocument/2006/relationships/notesMaster" Target="/ppt/notesMasters/notesMaster1.xml" Id="Rb2c1685f4cf7431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0befd5e8cc4274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 1">
            <a:extLst xmlns:a="http://schemas.openxmlformats.org/drawingml/2006/main">
              <a:ext uri="{FF2B5EF4-FFF2-40B4-BE49-F238E27FC236}">
                <a16:creationId xmlns:a16="http://schemas.microsoft.com/office/drawing/2014/main" id="{BF5EC6A2-0656-4316-92DC-AC1944886EA3}"/>
              </a:ext>
            </a:extLst>
          </p:cNvPr>
          <p:cNvSpPr/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/>
        </p:txBody>
      </p:sp>
      <p:sp>
        <p:nvSpPr>
          <p:cNvPr id="2" name="Subtitle 2">
            <a:extLst xmlns:a="http://schemas.openxmlformats.org/drawingml/2006/main">
              <a:ext uri="{FF2B5EF4-FFF2-40B4-BE49-F238E27FC236}">
                <a16:creationId xmlns:a16="http://schemas.microsoft.com/office/drawing/2014/main" id="{2BF70191-68D7-4262-B344-8197ABEB2ADA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/>
        </p:txBody>
      </p:sp>
      <p:sp>
        <p:nvSpPr>
          <p:cNvPr id="3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22CFAD8-40CB-427B-BC49-04FF1CE9DC00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E1AB07B-41BD-4E56-9056-9F8825B69719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1D126EA-F237-4CFC-A5A9-C2CB178F0336}"/>
              </a:ext>
            </a:extLst>
          </p:cNvPr>
          <p:cNvSpPr/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f107e99d70284b15" /><Relationship Type="http://schemas.openxmlformats.org/officeDocument/2006/relationships/slideLayout" Target="/ppt/slideLayouts/slideLayout2.xml" Id="R86cd31cc3f5741b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DB8EC9A-3C35-4BC7-A9C5-567B8714224A}"/>
              </a:ext>
            </a:extLst>
          </p:cNvPr>
          <p:cNvSpPr/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6cd31cc3f5741b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02458eb8c5e4eea" /><Relationship Type="http://schemas.openxmlformats.org/officeDocument/2006/relationships/notesSlide" Target="/ppt/notesSlides/notesSlide1.xml" Id="Rcb7c64efc5b4416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8e44fe8a4374aa8" /><Relationship Type="http://schemas.openxmlformats.org/officeDocument/2006/relationships/notesSlide" Target="/ppt/notesSlides/notesSlide2.xml" Id="R87e2f32d6ef547d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41c4d30c90c4994" /><Relationship Type="http://schemas.openxmlformats.org/officeDocument/2006/relationships/chart" Target="/ppt/slides/charts/chart1.xml" Id="Rc67adba7f7e74a8d" /><Relationship Type="http://schemas.openxmlformats.org/officeDocument/2006/relationships/notesSlide" Target="/ppt/notesSlides/notesSlide3.xml" Id="R1edc59d55b11415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adac9dfa7a541c5" /><Relationship Type="http://schemas.openxmlformats.org/officeDocument/2006/relationships/notesSlide" Target="/ppt/notesSlides/notesSlide4.xml" Id="Rc2babd18e8f34c3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168d9780a344be2" /><Relationship Type="http://schemas.openxmlformats.org/officeDocument/2006/relationships/notesSlide" Target="/ppt/notesSlides/notesSlide5.xml" Id="R2ef316bd4cca4a56" /></Relationships>
</file>

<file path=ppt/slides/charts/chart1.xml><?xml version="1.0" encoding="utf-8"?>
<c:chartSpace xmlns:c="http://schemas.openxmlformats.org/drawingml/2006/chart">
  <c:lang val="en-US"/>
  <c:roundedCorners val="0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500">
                <a:solidFill>
                  <a:srgbClr val="0F172A"/>
                </a:solidFill>
                <a:latin typeface="Poppins"/>
                <a:ea typeface="Poppins"/>
                <a:cs typeface="Poppins"/>
              </a:rPr>
              <a:t>ARR and Qualified Pipeline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0F172A"/>
              </a:solidFill>
              <a:latin typeface="Poppins"/>
              <a:ea typeface="Poppins"/>
              <a:cs typeface="Poppins"/>
            </a:defRPr>
          </a:pPr>
        </a:p>
      </c:txPr>
    </c:title>
    <c:autoTitleDeleted val="0"/>
    <c:view3D/>
    <c:plotArea>
      <c:layout/>
      <c:lineChart>
        <c:grouping val="standard"/>
        <c:varyColors val="0"/>
        <c:ser>
          <c:idx val="0"/>
          <c:order val="0"/>
          <c:tx>
            <c:v>ARR ($k)</c:v>
          </c:tx>
          <c:spPr>
            <a:solidFill xmlns:a="http://schemas.openxmlformats.org/drawingml/2006/main">
              <a:srgbClr val="2563EB"/>
            </a:solidFill>
            <a:ln xmlns:a="http://schemas.openxmlformats.org/drawingml/2006/main" w="28575">
              <a:solidFill>
                <a:srgbClr val="2563EB"/>
              </a:solidFill>
              <a:prstDash val="solid"/>
            </a:ln>
          </c:spPr>
          <c:marker/>
          <c:cat>
            <c:strLit>
              <c:ptCount val="6"/>
              <c:pt idx="0">
                <c:v>Jan 26</c:v>
              </c:pt>
              <c:pt idx="1">
                <c:v>Feb 26</c:v>
              </c:pt>
              <c:pt idx="2">
                <c:v>Mar 26</c:v>
              </c:pt>
              <c:pt idx="3">
                <c:v>Apr 26</c:v>
              </c:pt>
              <c:pt idx="4">
                <c:v>May 26</c:v>
              </c:pt>
              <c:pt idx="5">
                <c:v>Jun 26</c:v>
              </c:pt>
            </c:strLit>
          </c:cat>
          <c:val>
            <c:numLit>
              <c:formatCode/>
              <c:ptCount val="6"/>
              <c:pt idx="0">
                <c:v>1420</c:v>
              </c:pt>
              <c:pt idx="1">
                <c:v>1465</c:v>
              </c:pt>
              <c:pt idx="2">
                <c:v>1510</c:v>
              </c:pt>
              <c:pt idx="3">
                <c:v>1568</c:v>
              </c:pt>
              <c:pt idx="4">
                <c:v>1624</c:v>
              </c:pt>
              <c:pt idx="5">
                <c:v>1688</c:v>
              </c:pt>
            </c:numLit>
          </c:val>
          <c:smooth val="0"/>
        </c:ser>
        <c:ser>
          <c:idx val="1"/>
          <c:order val="1"/>
          <c:tx>
            <c:v>Qualified Pipeline ($k)</c:v>
          </c:tx>
          <c:spPr>
            <a:solidFill xmlns:a="http://schemas.openxmlformats.org/drawingml/2006/main">
              <a:srgbClr val="0F766E"/>
            </a:solidFill>
            <a:ln xmlns:a="http://schemas.openxmlformats.org/drawingml/2006/main" w="28575">
              <a:solidFill>
                <a:srgbClr val="0F766E"/>
              </a:solidFill>
              <a:prstDash val="solid"/>
            </a:ln>
          </c:spPr>
          <c:marker/>
          <c:cat>
            <c:strLit>
              <c:ptCount val="6"/>
              <c:pt idx="0">
                <c:v>Jan 26</c:v>
              </c:pt>
              <c:pt idx="1">
                <c:v>Feb 26</c:v>
              </c:pt>
              <c:pt idx="2">
                <c:v>Mar 26</c:v>
              </c:pt>
              <c:pt idx="3">
                <c:v>Apr 26</c:v>
              </c:pt>
              <c:pt idx="4">
                <c:v>May 26</c:v>
              </c:pt>
              <c:pt idx="5">
                <c:v>Jun 26</c:v>
              </c:pt>
            </c:strLit>
          </c:cat>
          <c:val>
            <c:numLit>
              <c:formatCode/>
              <c:ptCount val="6"/>
              <c:pt idx="0">
                <c:v>980</c:v>
              </c:pt>
              <c:pt idx="1">
                <c:v>1020</c:v>
              </c:pt>
              <c:pt idx="2">
                <c:v>1085</c:v>
              </c:pt>
              <c:pt idx="3">
                <c:v>1175</c:v>
              </c:pt>
              <c:pt idx="4">
                <c:v>1250</c:v>
              </c:pt>
              <c:pt idx="5">
                <c:v>1335</c:v>
              </c:pt>
            </c:numLit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Lato"/>
                <a:ea typeface="Lato"/>
                <a:cs typeface="Lato"/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Lato"/>
                <a:ea typeface="Lato"/>
                <a:cs typeface="Lato"/>
              </a:defRPr>
            </a:pPr>
          </a:p>
        </c:txPr>
        <c:crossAx val="48650112"/>
        <c:crosses val="autoZero"/>
        <c:crossBetween val="between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Lato"/>
              <a:ea typeface="Lato"/>
              <a:cs typeface="Lato"/>
            </a:defRPr>
          </a:pPr>
        </a:p>
      </c:txPr>
    </c:legend>
    <c:plotVisOnly val="1"/>
  </c:chart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1D126EA-F237-4CFC-A5A9-C2CB178F03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87DCDF-B84E-4DF6-8176-E5410B6BE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86ED9E-E036-4EEE-B01E-E6165369B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02159A-C037-495E-9EA3-899DDD1B6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838200"/>
            <a:ext cx="7048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550" b="1">
                <a:solidFill>
                  <a:srgbClr val="0F172A"/>
                </a:solidFill>
              </a:rPr>
              <a:t>Executive Briefing Machine Demo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A31955-1FD8-4B0D-9E98-FCB83FF8B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7239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0">
                <a:solidFill>
                  <a:srgbClr val="334155"/>
                </a:solidFill>
              </a:rPr>
              <a:t>Growth and efficiency improved this month, with reliability still the main watch item.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3ED7E4-901B-4A19-A30B-7CF663C0F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57500"/>
            <a:ext cx="33337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D22F85-8C91-4506-BF8F-7D68CBBBA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EB2626-E3BC-409D-9E76-2ED438558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38500"/>
            <a:ext cx="2990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Period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A6345E-E09E-49AD-AD6A-CF6BF6D44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57600"/>
            <a:ext cx="29908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May 2026 to Jun 2026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Generated from sample collaboration-style inputs with connector-ready adapters.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8EC6DC-1789-4E24-8D1F-C8F7BF312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857500"/>
            <a:ext cx="33337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B3D336-AFC8-4524-B42C-B3CDA035E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02895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2F78FE-34CD-4513-AC3A-6243B31A9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238500"/>
            <a:ext cx="2990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Operating readout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26FDB9-3511-41FE-8558-07779C88B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657600"/>
            <a:ext cx="29908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ARR reached $1688k and qualified pipeline rose to $1335k, keeping the Q3 growth story credible.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Net burn improved to $226k and NRR moved to 114%, which supports the efficiency narrative leadership wants to maintain.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480DB1-D0AA-46D3-A9E5-0742C5547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14500"/>
            <a:ext cx="34290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D6F971-B892-402B-AFDD-4E494C689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88595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123C"/>
          </a:solidFill>
          <a:ln xmlns:a="http://schemas.openxmlformats.org/drawingml/2006/main" w="0">
            <a:solidFill>
              <a:srgbClr val="BE123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A631CB-53CF-4CE1-B2E7-EBCA7A6AF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95500"/>
            <a:ext cx="3086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Watch item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3BDB74-45B1-486F-8F00-63D94A9D2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14600"/>
            <a:ext cx="30861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The main risk remains mobile reliability and enterprise deal friction around security review turnaround.</a:t>
            </a:r>
          </a:p>
        </p:txBody>
      </p:sp>
    </p:spTree>
    <p:extLst>
      <p:ext uri="{BB962C8B-B14F-4D97-AF65-F5344CB8AC3E}">
        <p14:creationId xmlns:p14="http://schemas.microsoft.com/office/powerpoint/2010/main" val="67044282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1D126EA-F237-4CFC-A5A9-C2CB178F03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A364EC-AE5B-4566-8D96-2202FB638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87045A-5E13-4822-9107-B65734426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F9F361-ABB3-442F-98A1-2FC6293CC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85800"/>
            <a:ext cx="6858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250" b="1">
                <a:solidFill>
                  <a:srgbClr val="0F172A"/>
                </a:solidFill>
              </a:rPr>
              <a:t>KPI snapshot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BE4CCA-00F9-457E-99E3-9B2BBEE46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32385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3E24E1-0712-4D63-B044-CA323BC14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B24F9A-92BF-42DB-BCBD-52882DE5E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9750"/>
            <a:ext cx="2895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ARR: $1688k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5E7FBC-C2B8-461E-9D00-A34CB1E7A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28956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+64k vs last month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4B35EF-5F34-465E-ABFA-0EA070CD1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428750"/>
            <a:ext cx="32385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4E2D69-154B-4DDB-8D96-213E91F36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6002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2036D6-ADE2-47C8-BEF6-F7855B4C5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809750"/>
            <a:ext cx="2895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Qualified Pipeline: $1335k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2E18A4-AA02-49FC-BB90-8663F29A3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228850"/>
            <a:ext cx="28956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+85k vs last month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6338E6-418B-4659-9938-F6AD8E61D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428750"/>
            <a:ext cx="32385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D9A96E-8BF0-478C-821C-93A120DC2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002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5AA220-8F57-4B2E-B8AA-C8A72170C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809750"/>
            <a:ext cx="2895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Net Burn: $226k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3AB68A-476C-458B-B8F1-3099D6C52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28850"/>
            <a:ext cx="28956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-5k vs last month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965678-4D23-4254-9ABA-227E395F4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24250"/>
            <a:ext cx="32385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C1E8EF-EDFE-4C38-9CF9-6A3999861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57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6EC0FB-6F7D-4366-836E-770437C12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05250"/>
            <a:ext cx="2895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NRR: 114%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7B650D-CD6D-42F8-BD55-418918E54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24350"/>
            <a:ext cx="28956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+1 pts vs last month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97A920-002B-4D9B-AB32-C5BC453DB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524250"/>
            <a:ext cx="32385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CDB8C6-841D-42B8-9616-E82F591B5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6957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4BD002-43AA-4C2B-8E89-09FA7D8E3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905250"/>
            <a:ext cx="2895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Sev-1 Incidents: 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EDA10A-D0B2-4538-BFEA-270606054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324350"/>
            <a:ext cx="28956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+1 incident improvement</a:t>
            </a:r>
          </a:p>
        </p:txBody>
      </p:sp>
    </p:spTree>
    <p:extLst>
      <p:ext uri="{BB962C8B-B14F-4D97-AF65-F5344CB8AC3E}">
        <p14:creationId xmlns:p14="http://schemas.microsoft.com/office/powerpoint/2010/main" val="33988117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1D126EA-F237-4CFC-A5A9-C2CB178F03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006DA8-958B-4AFA-9E7F-A3A388CF0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CB82D7-0035-48C1-8149-49BFF3838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43E09A-2AFF-4D3E-AC87-2F4F3895C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85800"/>
            <a:ext cx="6858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250" b="1">
                <a:solidFill>
                  <a:srgbClr val="0F172A"/>
                </a:solidFill>
              </a:rPr>
              <a:t>Growth and pipeline trend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25E1B7-08A5-4623-89C2-B8EC06867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3333750" cy="4476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160C03-EA7A-4201-975F-5732085C4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A16014-DC2F-4D75-8E22-7141BCF8F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9750"/>
            <a:ext cx="2990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Readout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1CF8A5-91EF-484F-BBEE-C324A2AE8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299085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ARR reached $1688k and qualified pipeline rose to $1335k, keeping the Q3 growth story credible.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Net burn improved to $226k and NRR moved to 114%, which supports the efficiency narrative leadership wants to maintain.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The main risk remains mobile reliability and enterprise deal friction around security review turnaround.</a:t>
            </a:r>
          </a:p>
        </p:txBody>
      </p:sp>
      <p:graphicFrame>
        <p:nvGraphicFramePr>
          <p:cNvPr id="9" name="Chart"/>
          <p:cNvGraphicFramePr/>
          <p:nvPr/>
        </p:nvGraphicFramePr>
        <p:xfrm>
          <a:off xmlns:a="http://schemas.openxmlformats.org/drawingml/2006/main" x="4476750" y="1428750"/>
          <a:ext xmlns:a="http://schemas.openxmlformats.org/drawingml/2006/main" cx="666750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67adba7f7e74a8d"/>
          </a:graphicData>
        </a:graphic>
      </p:graphicFrame>
    </p:spTree>
    <p:extLst>
      <p:ext uri="{BB962C8B-B14F-4D97-AF65-F5344CB8AC3E}">
        <p14:creationId xmlns:p14="http://schemas.microsoft.com/office/powerpoint/2010/main" val="26135000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1D126EA-F237-4CFC-A5A9-C2CB178F03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926342-9A1A-48D7-AFFB-88585D7A9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B78141-DE80-4CB1-9982-F61419B42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123C"/>
          </a:solidFill>
          <a:ln xmlns:a="http://schemas.openxmlformats.org/drawingml/2006/main" w="0">
            <a:solidFill>
              <a:srgbClr val="BE123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C97227-4274-4266-928D-51AA12543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85800"/>
            <a:ext cx="6858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250" b="1">
                <a:solidFill>
                  <a:srgbClr val="0F172A"/>
                </a:solidFill>
              </a:rPr>
              <a:t>Highlights and risks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8ED2F9-37D1-4FE2-A677-834757E52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4953000" cy="4286250"/>
          </a:xfrm>
          <a:prstGeom xmlns:a="http://schemas.openxmlformats.org/drawingml/2006/main" prst="roundRect">
            <a:avLst>
              <a:gd name="adj" fmla="val 17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9A0952-99EF-4489-B851-4D1AE84AB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350CA4-E25D-49A5-8C04-1D7B964B7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9750"/>
            <a:ext cx="4610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Highlights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4124B4-24D1-4E27-B88B-2F8340A44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46101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1. C09MXSVB2HH: • The CEO of the retail client said the weekly advisory cadence is working, but they want tighter decision logs and clearer owner follow-through. • The operations lead asked for a dashboard pack that shows burn, renewal risk, and implementation blockers in one place. • This is a good expansion signal if we package the reporting layer cleanly.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2. C09MXSVB2HH: • Qualified consulting pipeline moved from _$118k to $164k_ over the last 10 days. • Two enterprise advisory opportunities are now in procurement review. • The near-term risk is slower legal turnaround on MSA redlines, which could push one April close into May.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3. C09MXSVB2HH: Hyperagent is a good alternative for clients, in advanced talks with RTPL for its implementaiotn on behalf of DB consulting and Advisory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AF8F4E-D783-4243-A81D-025E3E87A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28750"/>
            <a:ext cx="5353050" cy="4286250"/>
          </a:xfrm>
          <a:prstGeom xmlns:a="http://schemas.openxmlformats.org/drawingml/2006/main" prst="roundRect">
            <a:avLst>
              <a:gd name="adj" fmla="val 17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99C8DE-CF7F-42F8-BD96-7A4D48403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002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123C"/>
          </a:solidFill>
          <a:ln xmlns:a="http://schemas.openxmlformats.org/drawingml/2006/main" w="0">
            <a:solidFill>
              <a:srgbClr val="BE123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D7801E-5C98-470B-8A20-8437843DC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09750"/>
            <a:ext cx="501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Risks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713459-34E7-4D46-9315-9D8DEB1A2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228850"/>
            <a:ext cx="50101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1. C09MXSVB2HH: • One client workshop is blocked until the data room access issue is resolved. • Delivery confidence remains high, but the team needs a named owner for exec stakeholder scheduling. • If we do not unblock the security questionnaire by Friday, the healthcare advisory kickoff will slip by at least one week.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2. Open issue #5: Risk: Live channel quality can overwhelm executive-briefing signal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3. Open issue #4: Future idea: Add client-ready QBR output mode</a:t>
            </a:r>
          </a:p>
        </p:txBody>
      </p:sp>
    </p:spTree>
    <p:extLst>
      <p:ext uri="{BB962C8B-B14F-4D97-AF65-F5344CB8AC3E}">
        <p14:creationId xmlns:p14="http://schemas.microsoft.com/office/powerpoint/2010/main" val="176035376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1D126EA-F237-4CFC-A5A9-C2CB178F03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5F958A-7E72-4AEC-A905-11EE8BE24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9568F3-5497-4913-9D42-22A7C414B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BC8BE2-36D2-40BF-9692-95AAD819A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85800"/>
            <a:ext cx="6858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250" b="1">
                <a:solidFill>
                  <a:srgbClr val="0F172A"/>
                </a:solidFill>
              </a:rPr>
              <a:t>Immediate asks and next-week focus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BDCD12-F2A0-4F73-95E0-4C9DCBEF1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4953000" cy="400050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F2AEE4-B9A7-4A02-A119-4DC8EB33B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5D00F9-2098-4911-A564-BBFBBFE47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9750"/>
            <a:ext cx="4610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Immediate asks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7FCBDF-4AFD-4125-9B60-574046EC1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46101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1. C09MXSVB2HH: • Need approval to pull one additional analytics contractor into the customer-ops workstream for 3 weeks. • Need legal support on the enterprise MSA backlog to protect April revenue timing. • Please confirm whether we want the board narrative to emphasize pipeline quality, delivery readiness, or margin improvement first.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2. The board will care most about whether enterprise pipeline supports the Q3 revenue target.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3. Keep net burn under $230k while continuing to invest in product reliability.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83D1BC-80D6-4D2D-9266-1CF0C3EEA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28750"/>
            <a:ext cx="5353050" cy="400050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59F9E9-2B9A-4D04-A837-AAFD1D8C5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002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2D4DA4-F3F6-4EC2-A223-3EAF479F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09750"/>
            <a:ext cx="501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Next week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E97AA9-1956-4194-9E5A-7DFF89CCD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228850"/>
            <a:ext cx="50101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1. Close the mobile crash hotfix and confirm session stability returns to baseline.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2. Unblock enterprise security reviews with legal support and tighter turnaround ownership.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3. Keep board-facing messaging anchored in pipeline credibility, burn discipline, and enterprise readiness.</a:t>
            </a:r>
          </a:p>
        </p:txBody>
      </p:sp>
    </p:spTree>
    <p:extLst>
      <p:ext uri="{BB962C8B-B14F-4D97-AF65-F5344CB8AC3E}">
        <p14:creationId xmlns:p14="http://schemas.microsoft.com/office/powerpoint/2010/main" val="512652787"/>
      </p:ext>
    </p:extLst>
  </p:cSld>
</p:sld>
</file>

<file path=ppt/theme/theme1.xml><?xml version="1.0" encoding="utf-8"?>
<a:theme xmlns:a="http://schemas.openxmlformats.org/drawingml/2006/main" name="Executive Briefing Demo">
  <a:themeElements>
    <a:clrScheme name="Executive Briefing Demo">
      <a:accent1>
        <a:srgbClr val="2563EB"/>
      </a:accent1>
      <a:accent2>
        <a:srgbClr val="0F766E"/>
      </a:accent2>
      <a:accent3>
        <a:srgbClr val="D97706"/>
      </a:accent3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Executive Briefing Demo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2026-04-18T02:24:06.5430000Z</dcterms:created>
  <dcterms:modified xsi:type="dcterms:W3CDTF">2026-04-18T02:24:06.5430000Z</dcterms:modified>
</coreProperties>
</file>